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13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0" y="-2743200"/>
            <a:ext cx="8229600" cy="6400800"/>
          </a:xfrm>
          <a:prstGeom prst="ellipse">
            <a:avLst/>
          </a:prstGeom>
          <a:solidFill>
            <a:srgbClr val="5A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31520"/>
            <a:ext cx="1737360" cy="1737360"/>
          </a:xfrm>
          <a:prstGeom prst="roundRect">
            <a:avLst/>
          </a:prstGeom>
          <a:solidFill>
            <a:srgbClr val="1A0E15"/>
          </a:solidFill>
          <a:ln w="12700">
            <a:solidFill>
              <a:srgbClr val="E84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h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737360" cy="1737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788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E84A9C"/>
                </a:solidFill>
                <a:latin typeface="Segoe UI"/>
              </a:rPr>
              <a:t>PROPUESTA DE TRABAJO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8229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0" i="0">
                <a:solidFill>
                  <a:srgbClr val="FFFFFF"/>
                </a:solidFill>
                <a:latin typeface="Georgia"/>
              </a:rPr>
              <a:t>Más consultas para tu inmobiliaria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E8CFDD"/>
                </a:solidFill>
                <a:latin typeface="Segoe UI"/>
              </a:rPr>
              <a:t>Un sistema para conseguir compradores e inquilinos reales en Tandil — todos los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172200"/>
            <a:ext cx="10543032" cy="12700"/>
          </a:xfrm>
          <a:prstGeom prst="rect">
            <a:avLst/>
          </a:prstGeom>
          <a:solidFill>
            <a:srgbClr val="66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093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10">
                <a:solidFill>
                  <a:srgbClr val="C79BB2"/>
                </a:solidFill>
                <a:latin typeface="Segoe UI"/>
              </a:rPr>
              <a:t>PREPARADO PARA </a:t>
            </a:r>
            <a:r>
              <a:rPr sz="1100" b="1" i="0" spc="110">
                <a:solidFill>
                  <a:srgbClr val="FFFFFF"/>
                </a:solidFill>
                <a:latin typeface="Segoe UI"/>
              </a:rPr>
              <a:t>LUCRECIA MORENO · NEGOCIOS INMOBILIARIOS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6309360"/>
            <a:ext cx="3685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10">
                <a:solidFill>
                  <a:srgbClr val="C79BB2"/>
                </a:solidFill>
                <a:latin typeface="Segoe UI"/>
              </a:rPr>
              <a:t>SANTINO MARCONI · JULIO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B02467"/>
                </a:solidFill>
                <a:latin typeface="Segoe UI"/>
              </a:rPr>
              <a:t>LA SITUACIÓN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3B1329"/>
                </a:solidFill>
                <a:latin typeface="Georgia"/>
              </a:rPr>
              <a:t>Producís muchísimo. Lo ve muy poca gente.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246888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400" b="0" i="0">
                <a:solidFill>
                  <a:srgbClr val="3B1329"/>
                </a:solidFill>
                <a:latin typeface="Georgia"/>
              </a:rPr>
              <a:t>4.559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3611880"/>
            <a:ext cx="3200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37947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A6570"/>
                </a:solidFill>
                <a:latin typeface="Segoe UI"/>
              </a:rPr>
              <a:t>seguidores en Instagram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70832" y="246888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400" b="0" i="0">
                <a:solidFill>
                  <a:srgbClr val="3B1329"/>
                </a:solidFill>
                <a:latin typeface="Georgia"/>
              </a:rPr>
              <a:t>442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3611880"/>
            <a:ext cx="3200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0832" y="37947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A6570"/>
                </a:solidFill>
                <a:latin typeface="Segoe UI"/>
              </a:rPr>
              <a:t>publicaciones que ya hiciste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246888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400" b="0" i="0">
                <a:solidFill>
                  <a:srgbClr val="3B1329"/>
                </a:solidFill>
                <a:latin typeface="Georgia"/>
              </a:rPr>
              <a:t>~12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91272" y="3611880"/>
            <a:ext cx="3200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91272" y="37947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A6570"/>
                </a:solidFill>
                <a:latin typeface="Segoe UI"/>
              </a:rPr>
              <a:t>"me gusta" por publicación, en promedio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480060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26121D"/>
                </a:solidFill>
                <a:latin typeface="Georgia"/>
              </a:rPr>
              <a:t>8 años de trabajo y una de las cuentas más activas de Tandil — pero el alcance sin pauta llegó a su techo. </a:t>
            </a:r>
            <a:r>
              <a:rPr sz="1900" b="1" i="0">
                <a:solidFill>
                  <a:srgbClr val="B02467"/>
                </a:solidFill>
                <a:latin typeface="Georgia"/>
              </a:rPr>
              <a:t>Menos de 1 de cada 100 seguidores</a:t>
            </a:r>
            <a:r>
              <a:rPr sz="1900" b="0" i="0">
                <a:solidFill>
                  <a:srgbClr val="26121D"/>
                </a:solidFill>
                <a:latin typeface="Georgia"/>
              </a:rPr>
              <a:t> ve cada posteo.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3B1329"/>
                </a:solidFill>
                <a:latin typeface="Segoe UI"/>
              </a:rPr>
              <a:t>SANTINO MARCONI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DATOS DE TU CUENTA DE INSTAGRAM · JULIO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F4A9CE"/>
                </a:solidFill>
                <a:latin typeface="Segoe UI"/>
              </a:rPr>
              <a:t>MIENTRAS TANTO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Tu competencia ya está pagando publicidad.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 i="0">
                <a:solidFill>
                  <a:srgbClr val="FFFFFF"/>
                </a:solidFill>
                <a:latin typeface="Georgia"/>
              </a:rPr>
              <a:t>Más de </a:t>
            </a:r>
            <a:r>
              <a:rPr sz="2600" b="1" i="0">
                <a:solidFill>
                  <a:srgbClr val="F4A9CE"/>
                </a:solidFill>
                <a:latin typeface="Georgia"/>
              </a:rPr>
              <a:t>una docena de inmobiliarias de Tandil</a:t>
            </a:r>
            <a:r>
              <a:rPr sz="2600" b="0" i="0">
                <a:solidFill>
                  <a:srgbClr val="FFFFFF"/>
                </a:solidFill>
                <a:latin typeface="Georgia"/>
              </a:rPr>
              <a:t> tienen avisos pagos en Facebook e Instagram en este momento — algunas con catálogos automáticos y formularios de tasación.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44805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 i="0">
                <a:solidFill>
                  <a:srgbClr val="FFFFFF"/>
                </a:solidFill>
                <a:latin typeface="Georgia"/>
              </a:rPr>
              <a:t>Aparecen frente a los compradores todos los días. </a:t>
            </a:r>
            <a:r>
              <a:rPr sz="2600" b="1" i="0">
                <a:solidFill>
                  <a:srgbClr val="F4A9CE"/>
                </a:solidFill>
                <a:latin typeface="Georgia"/>
              </a:rPr>
              <a:t>Hoy vos no estás ahí.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55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FFFFFF"/>
                </a:solidFill>
                <a:latin typeface="Segoe UI"/>
              </a:rPr>
              <a:t>SANTINO MARCONI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C79BB2"/>
                </a:solidFill>
                <a:latin typeface="Segoe UI"/>
              </a:rPr>
              <a:t>BIBLIOTECA DE ANUNCIOS DE META · JULIO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C79BB2"/>
                </a:solidFill>
                <a:latin typeface="Segoe U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B02467"/>
                </a:solidFill>
                <a:latin typeface="Segoe UI"/>
              </a:rPr>
              <a:t>MI PROPUESTA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3B1329"/>
                </a:solidFill>
                <a:latin typeface="Georgia"/>
              </a:rPr>
              <a:t>Poner tus propiedades adelante de quien busca.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2743200"/>
            <a:ext cx="10058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 i="0">
                <a:solidFill>
                  <a:srgbClr val="26121D"/>
                </a:solidFill>
                <a:latin typeface="Georgia"/>
              </a:rPr>
              <a:t>Me encargo de mostrar tus propiedades con publicidad paga a la gente que está buscando comprar o alquilar en Tandil y la zona, y de que esas </a:t>
            </a:r>
            <a:r>
              <a:rPr sz="2600" b="1" i="0">
                <a:solidFill>
                  <a:srgbClr val="B02467"/>
                </a:solidFill>
                <a:latin typeface="Georgia"/>
              </a:rPr>
              <a:t>consultas te lleguen directo al WhatsApp</a:t>
            </a:r>
            <a:r>
              <a:rPr sz="2600" b="0" i="0">
                <a:solidFill>
                  <a:srgbClr val="26121D"/>
                </a:solidFill>
                <a:latin typeface="Georgia"/>
              </a:rPr>
              <a:t>, ordenadas y listas para atender.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3B1329"/>
                </a:solidFill>
                <a:latin typeface="Segoe UI"/>
              </a:rPr>
              <a:t>SANTINO MARCONI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PROPUESTA · LUCRECIA MORENO NEGOCIOS INMOBILIARIOS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B02467"/>
                </a:solidFill>
                <a:latin typeface="Segoe UI"/>
              </a:rPr>
              <a:t>CÓMO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3B1329"/>
                </a:solidFill>
                <a:latin typeface="Georgia"/>
              </a:rPr>
              <a:t>Tres pasos, simple.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256032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E84A9C"/>
                </a:solidFill>
                <a:latin typeface="Georg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3429000"/>
            <a:ext cx="3108960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0" i="0">
                <a:solidFill>
                  <a:srgbClr val="3B1329"/>
                </a:solidFill>
                <a:latin typeface="Georgia"/>
              </a:rPr>
              <a:t>Mostramos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4160520"/>
            <a:ext cx="3108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A6570"/>
                </a:solidFill>
                <a:latin typeface="Segoe UI"/>
              </a:rPr>
              <a:t>Tus propiedades aparecen como avisos pagos frente a compradores e inquilinos de Tandil y la región.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256032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E84A9C"/>
                </a:solidFill>
                <a:latin typeface="Georgia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3429000"/>
            <a:ext cx="3108960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2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0" i="0">
                <a:solidFill>
                  <a:srgbClr val="3B1329"/>
                </a:solidFill>
                <a:latin typeface="Georgia"/>
              </a:rPr>
              <a:t>Consultan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2" y="4160520"/>
            <a:ext cx="3108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A6570"/>
                </a:solidFill>
                <a:latin typeface="Segoe UI"/>
              </a:rPr>
              <a:t>El interesado deja su nombre y teléfono, o te escribe directo por WhatsApp.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2" y="256032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E84A9C"/>
                </a:solidFill>
                <a:latin typeface="Georgia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91272" y="3429000"/>
            <a:ext cx="3108960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91272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0" i="0">
                <a:solidFill>
                  <a:srgbClr val="3B1329"/>
                </a:solidFill>
                <a:latin typeface="Georgia"/>
              </a:rPr>
              <a:t>Cerrás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1272" y="4160520"/>
            <a:ext cx="3108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A6570"/>
                </a:solidFill>
                <a:latin typeface="Segoe UI"/>
              </a:rPr>
              <a:t>Vos atendés la consulta, coordinás la visita y cerrás la operación.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3B1329"/>
                </a:solidFill>
                <a:latin typeface="Segoe UI"/>
              </a:rPr>
              <a:t>SANTINO MARCONI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PROPUESTA · LUCRECIA MORENO NEGOCIOS INMOBILIARIOS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F4A9CE"/>
                </a:solidFill>
                <a:latin typeface="Segoe UI"/>
              </a:rPr>
              <a:t>LO MÁS VALIOSO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El premio no es una propiedad. Son los clientes.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0" i="0">
                <a:solidFill>
                  <a:srgbClr val="FFFFFF"/>
                </a:solidFill>
                <a:latin typeface="Georgia"/>
              </a:rPr>
              <a:t>Cada persona que consulta por un aviso queda como </a:t>
            </a:r>
            <a:r>
              <a:rPr sz="2500" b="1" i="0">
                <a:solidFill>
                  <a:srgbClr val="F4A9CE"/>
                </a:solidFill>
                <a:latin typeface="Georgia"/>
              </a:rPr>
              <a:t>cliente interesado</a:t>
            </a:r>
            <a:r>
              <a:rPr sz="2500" b="0" i="0">
                <a:solidFill>
                  <a:srgbClr val="FFFFFF"/>
                </a:solidFill>
                <a:latin typeface="Georgia"/>
              </a:rPr>
              <a:t>. Aunque no cierre por esa propiedad, ya sabés qué busca y cuánto puede pagar — y le ofrecés otra de tu cartera.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45262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0" i="0">
                <a:solidFill>
                  <a:srgbClr val="FFFFFF"/>
                </a:solidFill>
                <a:latin typeface="Georgia"/>
              </a:rPr>
              <a:t>Cada campaña te va armando una </a:t>
            </a:r>
            <a:r>
              <a:rPr sz="2500" b="1" i="0">
                <a:solidFill>
                  <a:srgbClr val="F4A9CE"/>
                </a:solidFill>
                <a:latin typeface="Georgia"/>
              </a:rPr>
              <a:t>lista de compradores e inquilinos reales</a:t>
            </a:r>
            <a:r>
              <a:rPr sz="2500" b="0" i="0">
                <a:solidFill>
                  <a:srgbClr val="FFFFFF"/>
                </a:solidFill>
                <a:latin typeface="Georgia"/>
              </a:rPr>
              <a:t> de Tandil. Eso es lo que de verdad hace crecer tu inmobiliaria.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55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FFFFFF"/>
                </a:solidFill>
                <a:latin typeface="Segoe UI"/>
              </a:rPr>
              <a:t>SANTINO MARCONI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C79BB2"/>
                </a:solidFill>
                <a:latin typeface="Segoe UI"/>
              </a:rPr>
              <a:t>PROPUESTA · LUCRECIA MORENO NEGOCIOS INMOBILIARIOS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C79BB2"/>
                </a:solidFill>
                <a:latin typeface="Segoe U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B02467"/>
                </a:solidFill>
                <a:latin typeface="Segoe UI"/>
              </a:rPr>
              <a:t>PARA EMPEZAR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3B1329"/>
                </a:solidFill>
                <a:latin typeface="Georgia"/>
              </a:rPr>
              <a:t>Arrancamos con estas propiedades.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sa-juanbjusto-62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331720"/>
            <a:ext cx="2487168" cy="1865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" y="4306824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6121D"/>
                </a:solidFill>
                <a:latin typeface="Georgia"/>
              </a:rPr>
              <a:t>Casa Av. Juan B. Justo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4764024"/>
            <a:ext cx="24871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02467"/>
                </a:solidFill>
                <a:latin typeface="Segoe UI"/>
              </a:rPr>
              <a:t>U$S 62.000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5129784"/>
            <a:ext cx="24871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50">
                <a:solidFill>
                  <a:srgbClr val="7A6570"/>
                </a:solidFill>
                <a:latin typeface="Segoe UI"/>
              </a:rPr>
              <a:t>LISTA PARA HABITAR</a:t>
            </a:r>
          </a:p>
        </p:txBody>
      </p:sp>
      <p:pic>
        <p:nvPicPr>
          <p:cNvPr id="9" name="Picture 8" descr="casas-a-estren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2331720"/>
            <a:ext cx="2487168" cy="1865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84448" y="4306824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6121D"/>
                </a:solidFill>
                <a:latin typeface="Georgia"/>
              </a:rPr>
              <a:t>Casas a estrenar · 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4764024"/>
            <a:ext cx="24871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02467"/>
                </a:solidFill>
                <a:latin typeface="Segoe UI"/>
              </a:rPr>
              <a:t>A estrenar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5129784"/>
            <a:ext cx="24871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50">
                <a:solidFill>
                  <a:srgbClr val="7A6570"/>
                </a:solidFill>
                <a:latin typeface="Segoe UI"/>
              </a:rPr>
              <a:t>OBRA NUEVA</a:t>
            </a:r>
          </a:p>
        </p:txBody>
      </p:sp>
      <p:pic>
        <p:nvPicPr>
          <p:cNvPr id="13" name="Picture 12" descr="lotes-la-mat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504" y="2331720"/>
            <a:ext cx="2487168" cy="186537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318504" y="2331720"/>
            <a:ext cx="2487168" cy="1865376"/>
          </a:xfrm>
          <a:prstGeom prst="rect">
            <a:avLst/>
          </a:prstGeom>
          <a:noFill/>
          <a:ln w="31750">
            <a:solidFill>
              <a:srgbClr val="E84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18504" y="2331720"/>
            <a:ext cx="1051560" cy="310896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FINANCIA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4306824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6121D"/>
                </a:solidFill>
                <a:latin typeface="Georgia"/>
              </a:rPr>
              <a:t>Lotes Barrio La Mata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4764024"/>
            <a:ext cx="24871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02467"/>
                </a:solidFill>
                <a:latin typeface="Segoe UI"/>
              </a:rPr>
              <a:t>Desde U$S 57.000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5129784"/>
            <a:ext cx="24871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50">
                <a:solidFill>
                  <a:srgbClr val="7A6570"/>
                </a:solidFill>
                <a:latin typeface="Segoe UI"/>
              </a:rPr>
              <a:t>INVERSIÓN</a:t>
            </a:r>
          </a:p>
        </p:txBody>
      </p:sp>
      <p:pic>
        <p:nvPicPr>
          <p:cNvPr id="19" name="Picture 18" descr="casa-3dorm-primerajunt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2331720"/>
            <a:ext cx="2487168" cy="18653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52560" y="4306824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6121D"/>
                </a:solidFill>
                <a:latin typeface="Georgia"/>
              </a:rPr>
              <a:t>Casa Primera Junta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4764024"/>
            <a:ext cx="24871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02467"/>
                </a:solidFill>
                <a:latin typeface="Segoe UI"/>
              </a:rPr>
              <a:t>3 dormitorios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5129784"/>
            <a:ext cx="24871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50">
                <a:solidFill>
                  <a:srgbClr val="7A6570"/>
                </a:solidFill>
                <a:latin typeface="Segoe UI"/>
              </a:rPr>
              <a:t>FAMILIAR · CON QUINCHO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" y="553212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26121D"/>
                </a:solidFill>
                <a:latin typeface="Georgia"/>
              </a:rPr>
              <a:t>Una por cada rango. Sumamos también un alquiler de volumen para captar inquilinos. Cada aviso abre la puerta a nuevos clientes, cierren o no.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3B1329"/>
                </a:solidFill>
                <a:latin typeface="Segoe UI"/>
              </a:rPr>
              <a:t>SANTINO MARCONI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PROPUESTA · LUCRECIA MORENO NEGOCIOS INMOBILIARIOS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F4A9CE"/>
                </a:solidFill>
                <a:latin typeface="Segoe UI"/>
              </a:rPr>
              <a:t>EL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Qué pasa una vez que arrancamos.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2651760"/>
            <a:ext cx="31750" cy="201168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120">
                <a:solidFill>
                  <a:srgbClr val="F4A9CE"/>
                </a:solidFill>
                <a:latin typeface="Segoe UI"/>
              </a:rPr>
              <a:t>PRIMERA SEMANA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324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0" i="0">
                <a:solidFill>
                  <a:srgbClr val="FFFFFF"/>
                </a:solidFill>
                <a:latin typeface="Georgia"/>
              </a:rPr>
              <a:t>Dejo todo funcionando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6908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8CFDD"/>
                </a:solidFill>
                <a:latin typeface="Segoe UI"/>
              </a:rPr>
              <a:t>Configuro la publicidad y los avisos. En 7 días está en marcha.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6552" y="2651760"/>
            <a:ext cx="31750" cy="201168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6517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120">
                <a:solidFill>
                  <a:srgbClr val="F4A9CE"/>
                </a:solidFill>
                <a:latin typeface="Segoe UI"/>
              </a:rPr>
              <a:t>PRIMER 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06324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0" i="0">
                <a:solidFill>
                  <a:srgbClr val="FFFFFF"/>
                </a:solidFill>
                <a:latin typeface="Georgia"/>
              </a:rPr>
              <a:t>Empiezan las consultas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406908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8CFDD"/>
                </a:solidFill>
                <a:latin typeface="Segoe UI"/>
              </a:rPr>
              <a:t>Llegan los primeros interesados a tu WhatsApp. Primer informe.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82712" y="2651760"/>
            <a:ext cx="31750" cy="201168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6517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120">
                <a:solidFill>
                  <a:srgbClr val="F4A9CE"/>
                </a:solidFill>
                <a:latin typeface="Segoe UI"/>
              </a:rPr>
              <a:t>MESES 2 Y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306324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0" i="0">
                <a:solidFill>
                  <a:srgbClr val="FFFFFF"/>
                </a:solidFill>
                <a:latin typeface="Georgia"/>
              </a:rPr>
              <a:t>Agrandamos lo que funciona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06908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8CFDD"/>
                </a:solidFill>
                <a:latin typeface="Segoe UI"/>
              </a:rPr>
              <a:t>Ponemos más donde mejor responde y sumamos propiedades.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55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FFFFFF"/>
                </a:solidFill>
                <a:latin typeface="Segoe UI"/>
              </a:rPr>
              <a:t>SANTINO MARCONI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C79BB2"/>
                </a:solidFill>
                <a:latin typeface="Segoe UI"/>
              </a:rPr>
              <a:t>PROPUESTA · LUCRECIA MORENO NEGOCIOS INMOBILIARIOS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C79BB2"/>
                </a:solidFill>
                <a:latin typeface="Segoe U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B02467"/>
                </a:solidFill>
                <a:latin typeface="Segoe UI"/>
              </a:rPr>
              <a:t>LA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3B1329"/>
                </a:solidFill>
                <a:latin typeface="Georgia"/>
              </a:rPr>
              <a:t>Claro y sin sorpresas.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0392" y="2468880"/>
            <a:ext cx="5760720" cy="3017520"/>
          </a:xfrm>
          <a:prstGeom prst="roundRect">
            <a:avLst/>
          </a:prstGeom>
          <a:solidFill>
            <a:srgbClr val="FB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26121D"/>
                </a:solidFill>
                <a:latin typeface="Segoe UI"/>
              </a:rPr>
              <a:t>Mi honorario mensual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74320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3B1329"/>
                </a:solidFill>
                <a:latin typeface="Georgia"/>
              </a:rPr>
              <a:t>$500.000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3493008"/>
            <a:ext cx="5166360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639312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26121D"/>
                </a:solidFill>
                <a:latin typeface="Segoe UI"/>
              </a:rPr>
              <a:t>Publicidad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005072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A6570"/>
                </a:solidFill>
                <a:latin typeface="Segoe UI"/>
              </a:rPr>
              <a:t>la pagás vos, va directo a Facebook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63931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3B1329"/>
                </a:solidFill>
                <a:latin typeface="Georgia"/>
              </a:rPr>
              <a:t>$300.000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4389120"/>
            <a:ext cx="5166360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53542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26121D"/>
                </a:solidFill>
                <a:latin typeface="Segoe UI"/>
              </a:rPr>
              <a:t>Comisión sobre operaciones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901184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A6570"/>
                </a:solidFill>
                <a:latin typeface="Segoe UI"/>
              </a:rPr>
              <a:t>solo de las que salen de este trabajo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535424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B02467"/>
                </a:solidFill>
                <a:latin typeface="Georgia"/>
              </a:rPr>
              <a:t>10%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606040"/>
            <a:ext cx="4297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0" i="0">
                <a:solidFill>
                  <a:srgbClr val="3B1329"/>
                </a:solidFill>
                <a:latin typeface="Georgia"/>
              </a:rPr>
              <a:t>Una sola operación cubre meses de trabajo.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94760"/>
            <a:ext cx="4297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A6570"/>
                </a:solidFill>
                <a:latin typeface="Segoe UI"/>
              </a:rPr>
              <a:t>El 10% se cobra únicamente sobre las ventas y alquileres de clientes que llegan por este sistema.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4754880"/>
            <a:ext cx="4114800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4892040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B02467"/>
                </a:solidFill>
                <a:latin typeface="Segoe UI"/>
              </a:rPr>
              <a:t>Otra opción: </a:t>
            </a:r>
            <a:r>
              <a:rPr sz="1400" b="0" i="0">
                <a:solidFill>
                  <a:srgbClr val="7A6570"/>
                </a:solidFill>
                <a:latin typeface="Segoe UI"/>
              </a:rPr>
              <a:t>$400.000 de honorario + 15% sobre esas operaciones.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3B1329"/>
                </a:solidFill>
                <a:latin typeface="Segoe UI"/>
              </a:rPr>
              <a:t>SANTINO MARCONI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COMPROMISO INICIAL DE 90 DÍAS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B02467"/>
                </a:solidFill>
                <a:latin typeface="Segoe UI"/>
              </a:rPr>
              <a:t>VAS A ESTAR AL TANTO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3B1329"/>
                </a:solidFill>
                <a:latin typeface="Georgia"/>
              </a:rPr>
              <a:t>Un informe claro cada 15 días.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2377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26121D"/>
                </a:solidFill>
                <a:latin typeface="Georgia"/>
              </a:rPr>
              <a:t>Sin vueltas técnicas. Te muestro lo que importa: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338328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0" i="0">
                <a:solidFill>
                  <a:srgbClr val="3B1329"/>
                </a:solidFill>
                <a:latin typeface="Georgia"/>
              </a:rPr>
              <a:t>Consultas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4114800"/>
            <a:ext cx="3200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4297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A6570"/>
                </a:solidFill>
                <a:latin typeface="Segoe UI"/>
              </a:rPr>
              <a:t>cuántas llegaron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338328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0" i="0">
                <a:solidFill>
                  <a:srgbClr val="3B1329"/>
                </a:solidFill>
                <a:latin typeface="Georgia"/>
              </a:rPr>
              <a:t>Costo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4114800"/>
            <a:ext cx="3200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2" y="4297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A6570"/>
                </a:solidFill>
                <a:latin typeface="Segoe UI"/>
              </a:rPr>
              <a:t>cuánto costó cada una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2" y="338328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0" i="0">
                <a:solidFill>
                  <a:srgbClr val="3B1329"/>
                </a:solidFill>
                <a:latin typeface="Georgia"/>
              </a:rPr>
              <a:t>Visitas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91272" y="4114800"/>
            <a:ext cx="3200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91272" y="4297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A6570"/>
                </a:solidFill>
                <a:latin typeface="Segoe UI"/>
              </a:rPr>
              <a:t>cuántas se concretaron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3B1329"/>
                </a:solidFill>
                <a:latin typeface="Segoe UI"/>
              </a:rPr>
              <a:t>SANTINO MARCONI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PROPUESTA · LUCRECIA MORENO NEGOCIOS INMOBILIARIOS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20">
                <a:solidFill>
                  <a:srgbClr val="B02467"/>
                </a:solidFill>
                <a:latin typeface="Segoe UI"/>
              </a:rPr>
              <a:t>EL PRIMER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3B1329"/>
                </a:solidFill>
                <a:latin typeface="Georgia"/>
              </a:rPr>
              <a:t>Podemos arrancar esta semana.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847088"/>
            <a:ext cx="548640" cy="38100"/>
          </a:xfrm>
          <a:prstGeom prst="rect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651760"/>
            <a:ext cx="384048" cy="384048"/>
          </a:xfrm>
          <a:prstGeom prst="ellipse">
            <a:avLst/>
          </a:prstGeom>
          <a:solidFill>
            <a:srgbClr val="3B13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670048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26121D"/>
                </a:solidFill>
                <a:latin typeface="Segoe UI"/>
              </a:rPr>
              <a:t>Me das los accesos a tus redes y página.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3310128"/>
            <a:ext cx="8686800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3520440"/>
            <a:ext cx="384048" cy="384048"/>
          </a:xfrm>
          <a:prstGeom prst="ellipse">
            <a:avLst/>
          </a:prstGeom>
          <a:solidFill>
            <a:srgbClr val="3B13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538728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26121D"/>
                </a:solidFill>
                <a:latin typeface="Segoe UI"/>
              </a:rPr>
              <a:t>Elegimos juntos las primeras propiedades.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" y="4178808"/>
            <a:ext cx="8686800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0392" y="4389120"/>
            <a:ext cx="384048" cy="384048"/>
          </a:xfrm>
          <a:prstGeom prst="ellipse">
            <a:avLst/>
          </a:prstGeom>
          <a:solidFill>
            <a:srgbClr val="E8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407408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6121D"/>
                </a:solidFill>
                <a:latin typeface="Segoe UI"/>
              </a:rPr>
              <a:t>En 7 días los avisos están funcionando.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5047488"/>
            <a:ext cx="8686800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F0D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20">
                <a:solidFill>
                  <a:srgbClr val="3B1329"/>
                </a:solidFill>
                <a:latin typeface="Segoe UI"/>
              </a:rPr>
              <a:t>SANTINO MARCONI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64190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PROPUESTA · LUCRECIA MORENO NEGOCIOS INMOBILIARIOS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7A6570"/>
                </a:solidFill>
                <a:latin typeface="Segoe U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13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943600" y="-3200400"/>
            <a:ext cx="9144000" cy="6858000"/>
          </a:xfrm>
          <a:prstGeom prst="ellipse">
            <a:avLst/>
          </a:prstGeom>
          <a:solidFill>
            <a:srgbClr val="5A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13248" y="1234440"/>
            <a:ext cx="1371600" cy="1371600"/>
          </a:xfrm>
          <a:prstGeom prst="roundRect">
            <a:avLst/>
          </a:prstGeom>
          <a:solidFill>
            <a:srgbClr val="1A0E15"/>
          </a:solidFill>
          <a:ln w="12700">
            <a:solidFill>
              <a:srgbClr val="E84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h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123444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3200400"/>
            <a:ext cx="944575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Empecemos a construir tu cartera de clientes.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0248" y="5486400"/>
            <a:ext cx="3657600" cy="12700"/>
          </a:xfrm>
          <a:prstGeom prst="rect">
            <a:avLst/>
          </a:prstGeom>
          <a:solidFill>
            <a:srgbClr val="66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5623560"/>
            <a:ext cx="9445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spc="200">
                <a:solidFill>
                  <a:srgbClr val="E84A9C"/>
                </a:solidFill>
                <a:latin typeface="Segoe UI"/>
              </a:rPr>
              <a:t>SANTINO MARCONI · CAPTACIÓN DE CLIENTES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