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743200"/>
            <a:ext cx="8229600" cy="6400800"/>
          </a:xfrm>
          <a:prstGeom prst="ellipse">
            <a:avLst/>
          </a:prstGeom>
          <a:solidFill>
            <a:srgbClr val="5A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31520"/>
            <a:ext cx="1737360" cy="1737360"/>
          </a:xfrm>
          <a:prstGeom prst="roundRect">
            <a:avLst/>
          </a:prstGeom>
          <a:solidFill>
            <a:srgbClr val="1A0E15"/>
          </a:solidFill>
          <a:ln w="12700">
            <a:solidFill>
              <a:srgbClr val="E84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7373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88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E84A9C"/>
                </a:solidFill>
                <a:latin typeface="Segoe UI"/>
              </a:rPr>
              <a:t>PROPUESTA DE TRABAJO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8229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0" i="0">
                <a:solidFill>
                  <a:srgbClr val="FFFFFF"/>
                </a:solidFill>
                <a:latin typeface="Georgia"/>
              </a:rPr>
              <a:t>Más clientes para tu inmobiliaria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8CFDD"/>
                </a:solidFill>
                <a:latin typeface="Segoe UI"/>
              </a:rPr>
              <a:t>Un sistema para conseguir compradores e inquilinos reales en Tandil — todos los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172200"/>
            <a:ext cx="10543032" cy="12700"/>
          </a:xfrm>
          <a:prstGeom prst="rect">
            <a:avLst/>
          </a:prstGeom>
          <a:solidFill>
            <a:srgbClr val="66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093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10">
                <a:solidFill>
                  <a:srgbClr val="C79BB2"/>
                </a:solidFill>
                <a:latin typeface="Segoe UI"/>
              </a:rPr>
              <a:t>PREPARADO PARA </a:t>
            </a:r>
            <a:r>
              <a:rPr sz="1100" b="1" i="0" spc="110">
                <a:solidFill>
                  <a:srgbClr val="FFFFFF"/>
                </a:solidFill>
                <a:latin typeface="Segoe UI"/>
              </a:rPr>
              <a:t>LUCRECIA MORENO · NEGOCIOS INMOBILIARIOS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6309360"/>
            <a:ext cx="3685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10">
                <a:solidFill>
                  <a:srgbClr val="C79BB2"/>
                </a:solidFill>
                <a:latin typeface="Segoe UI"/>
              </a:rPr>
              <a:t>SANTINO MARCONI · JULIO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LA SITUACIÓN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Producís muchísimo. Lo ve muy poca gente.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4688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0" i="0">
                <a:solidFill>
                  <a:srgbClr val="3B1329"/>
                </a:solidFill>
                <a:latin typeface="Georgia"/>
              </a:rPr>
              <a:t>4.559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361188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37947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seguidores en 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0832" y="24688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0" i="0">
                <a:solidFill>
                  <a:srgbClr val="3B1329"/>
                </a:solidFill>
                <a:latin typeface="Georgia"/>
              </a:rPr>
              <a:t>442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361188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37947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publicaciones que ya hiciste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24688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0" i="0">
                <a:solidFill>
                  <a:srgbClr val="3B1329"/>
                </a:solidFill>
                <a:latin typeface="Georgia"/>
              </a:rPr>
              <a:t>~12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91272" y="361188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91272" y="37947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"me gusta" por publicación, en promedio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48006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26121D"/>
                </a:solidFill>
                <a:latin typeface="Georgia"/>
              </a:rPr>
              <a:t>8 años de trabajo y una de las cuentas más activas de Tandil — pero el alcance sin pauta llegó a su techo. </a:t>
            </a:r>
            <a:r>
              <a:rPr sz="1900" b="1" i="0">
                <a:solidFill>
                  <a:srgbClr val="B02467"/>
                </a:solidFill>
                <a:latin typeface="Georgia"/>
              </a:rPr>
              <a:t>Menos de 1 de cada 100 seguidores</a:t>
            </a:r>
            <a:r>
              <a:rPr sz="1900" b="0" i="0">
                <a:solidFill>
                  <a:srgbClr val="26121D"/>
                </a:solidFill>
                <a:latin typeface="Georgia"/>
              </a:rPr>
              <a:t> ve cada posteo.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DATOS DE TU CUENTA DE INSTAGRAM · JULIO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F4A9CE"/>
                </a:solidFill>
                <a:latin typeface="Segoe UI"/>
              </a:rPr>
              <a:t>MIENTRAS TANTO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Tu competencia ya está pagando publicidad.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Más de </a:t>
            </a:r>
            <a:r>
              <a:rPr sz="2600" b="1" i="0">
                <a:solidFill>
                  <a:srgbClr val="F4A9CE"/>
                </a:solidFill>
                <a:latin typeface="Georgia"/>
              </a:rPr>
              <a:t>una docena de inmobiliarias de Tandil</a:t>
            </a:r>
            <a:r>
              <a:rPr sz="2600" b="0" i="0">
                <a:solidFill>
                  <a:srgbClr val="FFFFFF"/>
                </a:solidFill>
                <a:latin typeface="Georgia"/>
              </a:rPr>
              <a:t> tienen avisos pagos en Facebook e Instagram en este momento — algunas con catálogos automáticos y formularios de tasación.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4805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Aparecen frente a los compradores todos los días. </a:t>
            </a:r>
            <a:r>
              <a:rPr sz="2600" b="1" i="0">
                <a:solidFill>
                  <a:srgbClr val="F4A9CE"/>
                </a:solidFill>
                <a:latin typeface="Georgia"/>
              </a:rPr>
              <a:t>Cada semana que pasa, a esos clientes los atiende otro.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55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FFFFFF"/>
                </a:solidFill>
                <a:latin typeface="Segoe UI"/>
              </a:rPr>
              <a:t>SANTINO MARCONI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BIBLIOTECA DE ANUNCIOS DE META · JULIO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MI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No es publicidad. Es ordenar todo el camino del cliente.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0" i="0">
                <a:solidFill>
                  <a:srgbClr val="26121D"/>
                </a:solidFill>
                <a:latin typeface="Georgia"/>
              </a:rPr>
              <a:t>Me encargo de que tus propiedades aparezcan frente a quien está buscando, de que la consulta te llegue </a:t>
            </a:r>
            <a:r>
              <a:rPr sz="2500" b="1" i="0">
                <a:solidFill>
                  <a:srgbClr val="B02467"/>
                </a:solidFill>
                <a:latin typeface="Georgia"/>
              </a:rPr>
              <a:t>ordenada al WhatsApp</a:t>
            </a:r>
            <a:r>
              <a:rPr sz="2500" b="0" i="0">
                <a:solidFill>
                  <a:srgbClr val="26121D"/>
                </a:solidFill>
                <a:latin typeface="Georgia"/>
              </a:rPr>
              <a:t>, y de que sepas exactamente qué hacer con ella hasta la firma.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0" i="0">
                <a:solidFill>
                  <a:srgbClr val="26121D"/>
                </a:solidFill>
                <a:latin typeface="Georgia"/>
              </a:rPr>
              <a:t>El anuncio es solo la puerta de entrada. Mi trabajo es que </a:t>
            </a:r>
            <a:r>
              <a:rPr sz="2500" b="1" i="0">
                <a:solidFill>
                  <a:srgbClr val="B02467"/>
                </a:solidFill>
                <a:latin typeface="Georgia"/>
              </a:rPr>
              <a:t>todo lo que viene después también funcione.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EL SISTEMA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Cuatro piezas trabajando juntas.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84A9C"/>
                </a:solidFill>
                <a:latin typeface="Georg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3474720"/>
            <a:ext cx="2542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3657600"/>
            <a:ext cx="2542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B1329"/>
                </a:solidFill>
                <a:latin typeface="Georgia"/>
              </a:rPr>
              <a:t>Distribución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4206240"/>
            <a:ext cx="254203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A6570"/>
                </a:solidFill>
                <a:latin typeface="Segoe UI"/>
              </a:rPr>
              <a:t>Tus propiedades como avisos pagos frente a compradores e inquilinos de Tandil y la región.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265176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84A9C"/>
                </a:solidFill>
                <a:latin typeface="Georgia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3474720"/>
            <a:ext cx="2542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3657600"/>
            <a:ext cx="2542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B1329"/>
                </a:solidFill>
                <a:latin typeface="Georgia"/>
              </a:rPr>
              <a:t>Captura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4206240"/>
            <a:ext cx="254203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A6570"/>
                </a:solidFill>
                <a:latin typeface="Segoe UI"/>
              </a:rPr>
              <a:t>Cada interesado deja su nombre y teléfono, o te escribe directo — ordenado, no perdido entre comentarios.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65176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84A9C"/>
                </a:solidFill>
                <a:latin typeface="Georgia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474720"/>
            <a:ext cx="2542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3657600"/>
            <a:ext cx="2542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B1329"/>
                </a:solidFill>
                <a:latin typeface="Georgia"/>
              </a:rPr>
              <a:t>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206240"/>
            <a:ext cx="254203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A6570"/>
                </a:solidFill>
                <a:latin typeface="Segoe UI"/>
              </a:rPr>
              <a:t>Ordenamos la respuesta y el seguimiento: rápido, con método y sin que se te enfríe ningún contacto.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2832" y="265176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84A9C"/>
                </a:solidFill>
                <a:latin typeface="Georgi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42832" y="3474720"/>
            <a:ext cx="2542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42832" y="3657600"/>
            <a:ext cx="2542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B1329"/>
                </a:solidFill>
                <a:latin typeface="Georgia"/>
              </a:rPr>
              <a:t>Medición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2832" y="4206240"/>
            <a:ext cx="254203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A6570"/>
                </a:solidFill>
                <a:latin typeface="Segoe UI"/>
              </a:rPr>
              <a:t>Sabés cuántas consultas llegaron, cuánto costó cada una y qué pasó con ellas.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F4A9CE"/>
                </a:solidFill>
                <a:latin typeface="Segoe UI"/>
              </a:rPr>
              <a:t>LO MÁS VALIOSO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El premio no es una propiedad. Son los clientes.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0" i="0">
                <a:solidFill>
                  <a:srgbClr val="FFFFFF"/>
                </a:solidFill>
                <a:latin typeface="Georgia"/>
              </a:rPr>
              <a:t>Cada persona que consulta por un aviso queda como </a:t>
            </a:r>
            <a:r>
              <a:rPr sz="2500" b="1" i="0">
                <a:solidFill>
                  <a:srgbClr val="F4A9CE"/>
                </a:solidFill>
                <a:latin typeface="Georgia"/>
              </a:rPr>
              <a:t>cliente interesado</a:t>
            </a:r>
            <a:r>
              <a:rPr sz="2500" b="0" i="0">
                <a:solidFill>
                  <a:srgbClr val="FFFFFF"/>
                </a:solidFill>
                <a:latin typeface="Georgia"/>
              </a:rPr>
              <a:t>. Aunque no cierre por esa propiedad, ya sabés qué busca y cuánto puede pagar — y le ofrecés otra de tu cartera.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5262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0" i="0">
                <a:solidFill>
                  <a:srgbClr val="FFFFFF"/>
                </a:solidFill>
                <a:latin typeface="Georgia"/>
              </a:rPr>
              <a:t>Cada campaña te va armando una </a:t>
            </a:r>
            <a:r>
              <a:rPr sz="2500" b="1" i="0">
                <a:solidFill>
                  <a:srgbClr val="F4A9CE"/>
                </a:solidFill>
                <a:latin typeface="Georgia"/>
              </a:rPr>
              <a:t>lista de compradores e inquilinos reales</a:t>
            </a:r>
            <a:r>
              <a:rPr sz="2500" b="0" i="0">
                <a:solidFill>
                  <a:srgbClr val="FFFFFF"/>
                </a:solidFill>
                <a:latin typeface="Georgia"/>
              </a:rPr>
              <a:t> de Tandil. Eso es lo que de verdad hace crecer tu inmobiliaria.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55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FFFFFF"/>
                </a:solidFill>
                <a:latin typeface="Segoe UI"/>
              </a:rPr>
              <a:t>SANTINO MARCONI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POR QUÉ YO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No solo sé de anuncios.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2606040"/>
            <a:ext cx="31750" cy="13258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060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3B1329"/>
                </a:solidFill>
                <a:latin typeface="Georgia"/>
              </a:rPr>
              <a:t>Publicidad que llega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1089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Distribución paga bien segmentada a quien busca en tu zona — no 'boostear' por boostear.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2606040"/>
            <a:ext cx="31750" cy="13258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6060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3B1329"/>
                </a:solidFill>
                <a:latin typeface="Georgia"/>
              </a:rPr>
              <a:t>Procesos de venta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1089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Cómo responder, con qué guion y cómo hacer seguimiento para que la consulta termine en visita.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4297680"/>
            <a:ext cx="31750" cy="13258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97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3B1329"/>
                </a:solidFill>
                <a:latin typeface="Georgia"/>
              </a:rPr>
              <a:t>Contenido que convierte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Tu contenido ya es bueno; me aseguro de que trabaje y venda, no que solo se vea lindo.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4297680"/>
            <a:ext cx="31750" cy="13258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3B1329"/>
                </a:solidFill>
                <a:latin typeface="Georgia"/>
              </a:rPr>
              <a:t>Comunicación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0060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Cómo se presenta cada propiedad y cómo se le habla al cliente para generar confianza.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PARA EMPEZAR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Arrancamos con estas propiedades.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a-juanbjusto-62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331720"/>
            <a:ext cx="2487168" cy="1865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Casa Av. Juan B. Justo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U$S 62.000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LISTA PARA HABITAR</a:t>
            </a:r>
          </a:p>
        </p:txBody>
      </p:sp>
      <p:pic>
        <p:nvPicPr>
          <p:cNvPr id="9" name="Picture 8" descr="casas-a-estren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331720"/>
            <a:ext cx="2487168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84448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Casas a estrenar · 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A estrenar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OBRA NUEVA</a:t>
            </a:r>
          </a:p>
        </p:txBody>
      </p:sp>
      <p:pic>
        <p:nvPicPr>
          <p:cNvPr id="13" name="Picture 12" descr="lotes-la-mat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2331720"/>
            <a:ext cx="2487168" cy="18653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318504" y="2331720"/>
            <a:ext cx="2487168" cy="1865376"/>
          </a:xfrm>
          <a:prstGeom prst="rect">
            <a:avLst/>
          </a:prstGeom>
          <a:noFill/>
          <a:ln w="31750">
            <a:solidFill>
              <a:srgbClr val="E84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4" y="2331720"/>
            <a:ext cx="1051560" cy="310896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FINANCIA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Lotes Barrio La Mata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Desde U$S 57.000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INVERSIÓN</a:t>
            </a:r>
          </a:p>
        </p:txBody>
      </p:sp>
      <p:pic>
        <p:nvPicPr>
          <p:cNvPr id="19" name="Picture 18" descr="casa-3dorm-primerajunt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331720"/>
            <a:ext cx="2487168" cy="1865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52560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Casa Primera Junta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3 dormitorios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FAMILIAR · CON QUINCHO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" y="553212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6121D"/>
                </a:solidFill>
                <a:latin typeface="Georgia"/>
              </a:rPr>
              <a:t>Una por cada rango. Sumamos también un alquiler de volumen para captar inquilinos. Cada aviso abre la puerta a nuevos clientes, cierren o no.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F4A9CE"/>
                </a:solidFill>
                <a:latin typeface="Segoe UI"/>
              </a:rPr>
              <a:t>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Qué pasa una vez que arrancamos.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2651760"/>
            <a:ext cx="31750" cy="20116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120">
                <a:solidFill>
                  <a:srgbClr val="F4A9CE"/>
                </a:solidFill>
                <a:latin typeface="Segoe UI"/>
              </a:rPr>
              <a:t>PRIMERA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FFFFFF"/>
                </a:solidFill>
                <a:latin typeface="Georgia"/>
              </a:rPr>
              <a:t>Dejo todo funcionando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6908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8CFDD"/>
                </a:solidFill>
                <a:latin typeface="Segoe UI"/>
              </a:rPr>
              <a:t>Configuro la publicidad y los avisos. En 7 días está en marcha.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6552" y="2651760"/>
            <a:ext cx="31750" cy="20116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6517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120">
                <a:solidFill>
                  <a:srgbClr val="F4A9CE"/>
                </a:solidFill>
                <a:latin typeface="Segoe UI"/>
              </a:rPr>
              <a:t>PRIMER 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6324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FFFFFF"/>
                </a:solidFill>
                <a:latin typeface="Georgia"/>
              </a:rPr>
              <a:t>Empiezan las consultas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06908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8CFDD"/>
                </a:solidFill>
                <a:latin typeface="Segoe UI"/>
              </a:rPr>
              <a:t>Llegan los primeros interesados a tu WhatsApp. Primer informe.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2651760"/>
            <a:ext cx="31750" cy="20116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6517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120">
                <a:solidFill>
                  <a:srgbClr val="F4A9CE"/>
                </a:solidFill>
                <a:latin typeface="Segoe UI"/>
              </a:rPr>
              <a:t>MESES 2 Y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306324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FFFFFF"/>
                </a:solidFill>
                <a:latin typeface="Georgia"/>
              </a:rPr>
              <a:t>Agrandamos lo que funciona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06908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8CFDD"/>
                </a:solidFill>
                <a:latin typeface="Segoe UI"/>
              </a:rPr>
              <a:t>Ponemos más donde mejor responde y sumamos propiedades.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55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FFFFFF"/>
                </a:solidFill>
                <a:latin typeface="Segoe UI"/>
              </a:rPr>
              <a:t>SANTINO MARCONI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LA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Todo esto, todos los meses.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331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120">
                <a:solidFill>
                  <a:srgbClr val="B02467"/>
                </a:solidFill>
                <a:latin typeface="Segoe UI"/>
              </a:rPr>
              <a:t>INCLUIDO EN EL TRABAJO</a:t>
            </a:r>
          </a:p>
        </p:txBody>
      </p:sp>
      <p:sp>
        <p:nvSpPr>
          <p:cNvPr id="6" name="Oval 5"/>
          <p:cNvSpPr/>
          <p:nvPr/>
        </p:nvSpPr>
        <p:spPr>
          <a:xfrm>
            <a:off x="850392" y="2788920"/>
            <a:ext cx="237744" cy="237744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934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Estrategia y elección de las propiedades a promocionar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3264408"/>
            <a:ext cx="237744" cy="237744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2689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Campañas, creatividades y textos de los avisos</a:t>
            </a:r>
          </a:p>
        </p:txBody>
      </p:sp>
      <p:sp>
        <p:nvSpPr>
          <p:cNvPr id="10" name="Oval 9"/>
          <p:cNvSpPr/>
          <p:nvPr/>
        </p:nvSpPr>
        <p:spPr>
          <a:xfrm>
            <a:off x="850392" y="3739896"/>
            <a:ext cx="237744" cy="237744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444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Formulario y WhatsApp que capturan el pedido del cliente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" y="4215384"/>
            <a:ext cx="237744" cy="237744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2199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Optimización semanal de la pauta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" y="4690872"/>
            <a:ext cx="237744" cy="237744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69544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Orden del proceso de respuesta y seguimiento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" y="5166360"/>
            <a:ext cx="237744" cy="237744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1709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Informe claro cada 15 días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331720"/>
            <a:ext cx="4754880" cy="2468880"/>
          </a:xfrm>
          <a:prstGeom prst="roundRect">
            <a:avLst/>
          </a:prstGeom>
          <a:solidFill>
            <a:srgbClr val="FB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560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Mi honorario mensual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56032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3B1329"/>
                </a:solidFill>
                <a:latin typeface="Georgia"/>
              </a:rPr>
              <a:t>$400.000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63824"/>
            <a:ext cx="420624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Publicidad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60273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7A6570"/>
                </a:solidFill>
                <a:latin typeface="Segoe UI"/>
              </a:rPr>
              <a:t>la pagás vos, va directo a 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32918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3B1329"/>
                </a:solidFill>
                <a:latin typeface="Georgia"/>
              </a:rPr>
              <a:t>$300.000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895344"/>
            <a:ext cx="420624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40233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6121D"/>
                </a:solidFill>
                <a:latin typeface="Segoe UI"/>
              </a:rPr>
              <a:t>Comisión sobre operaciones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33425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7A6570"/>
                </a:solidFill>
                <a:latin typeface="Segoe UI"/>
              </a:rPr>
              <a:t>solo de las que salen de este trabajo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0233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B02467"/>
                </a:solidFill>
                <a:latin typeface="Georgia"/>
              </a:rP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98348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B1329"/>
                </a:solidFill>
                <a:latin typeface="Georgia"/>
              </a:rPr>
              <a:t>Una sola operación cubre más de medio año de trabajo.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715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6570"/>
                </a:solidFill>
                <a:latin typeface="Segoe UI"/>
              </a:rPr>
              <a:t>El 10% se cobra solo sobre ventas y alquileres de este sistema. </a:t>
            </a:r>
            <a:r>
              <a:rPr sz="1100" b="1" i="0">
                <a:solidFill>
                  <a:srgbClr val="B02467"/>
                </a:solidFill>
                <a:latin typeface="Segoe UI"/>
              </a:rPr>
              <a:t>Otra opción: </a:t>
            </a:r>
            <a:r>
              <a:rPr sz="1100" b="0" i="0">
                <a:solidFill>
                  <a:srgbClr val="7A6570"/>
                </a:solidFill>
                <a:latin typeface="Segoe UI"/>
              </a:rPr>
              <a:t>$300.000 + 15%.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COMPROMISO INICIAL DE 90 DÍAS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-3200400"/>
            <a:ext cx="9144000" cy="6858000"/>
          </a:xfrm>
          <a:prstGeom prst="ellipse">
            <a:avLst/>
          </a:prstGeom>
          <a:solidFill>
            <a:srgbClr val="5A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640080"/>
            <a:ext cx="1005840" cy="1005840"/>
          </a:xfrm>
          <a:prstGeom prst="roundRect">
            <a:avLst/>
          </a:prstGeom>
          <a:solidFill>
            <a:srgbClr val="1A0E15"/>
          </a:solidFill>
          <a:ln w="12700">
            <a:solidFill>
              <a:srgbClr val="E84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11680" y="7498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Georgia"/>
              </a:rPr>
              <a:t>Lucrecia Moreno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1704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20">
                <a:solidFill>
                  <a:srgbClr val="C79BB2"/>
                </a:solidFill>
                <a:latin typeface="Segoe UI"/>
              </a:rPr>
              <a:t>NEGOCIOS INMOBILIARIOS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E84A9C"/>
                </a:solidFill>
                <a:latin typeface="Segoe UI"/>
              </a:rPr>
              <a:t>EL PRIMER 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Podemos arrancar esta semana.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3611880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3977639"/>
            <a:ext cx="365760" cy="365760"/>
          </a:xfrm>
          <a:prstGeom prst="ellipse">
            <a:avLst/>
          </a:prstGeom>
          <a:solidFill>
            <a:srgbClr val="66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005071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FFFFFF"/>
                </a:solidFill>
                <a:latin typeface="Segoe UI"/>
              </a:rPr>
              <a:t>Me das los accesos a tus redes y página.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4636007"/>
            <a:ext cx="365760" cy="365760"/>
          </a:xfrm>
          <a:prstGeom prst="ellipse">
            <a:avLst/>
          </a:prstGeom>
          <a:solidFill>
            <a:srgbClr val="66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6634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FFFFFF"/>
                </a:solidFill>
                <a:latin typeface="Segoe UI"/>
              </a:rPr>
              <a:t>Elegimos juntos las primeras propiedades.</a:t>
            </a:r>
          </a:p>
        </p:txBody>
      </p:sp>
      <p:sp>
        <p:nvSpPr>
          <p:cNvPr id="15" name="Oval 14"/>
          <p:cNvSpPr/>
          <p:nvPr/>
        </p:nvSpPr>
        <p:spPr>
          <a:xfrm>
            <a:off x="850392" y="5294375"/>
            <a:ext cx="365760" cy="365760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321807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En 7 días los avisos están funcionando.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172200"/>
            <a:ext cx="10543032" cy="12700"/>
          </a:xfrm>
          <a:prstGeom prst="rect">
            <a:avLst/>
          </a:prstGeom>
          <a:solidFill>
            <a:srgbClr val="66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093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00">
                <a:solidFill>
                  <a:srgbClr val="E84A9C"/>
                </a:solidFill>
                <a:latin typeface="Segoe UI"/>
              </a:rPr>
              <a:t>SANTINO MARCONI · CAPTACIÓN DE CLIENTES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