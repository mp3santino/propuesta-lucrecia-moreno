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jpg"/><Relationship Id="rId4" Type="http://schemas.openxmlformats.org/officeDocument/2006/relationships/image" Target="../media/image4.jpg"/><Relationship Id="rId5" Type="http://schemas.openxmlformats.org/officeDocument/2006/relationships/image" Target="../media/image5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B13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B1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858000" y="-2743200"/>
            <a:ext cx="8229600" cy="6400800"/>
          </a:xfrm>
          <a:prstGeom prst="ellipse">
            <a:avLst/>
          </a:prstGeom>
          <a:solidFill>
            <a:srgbClr val="5A1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2960" y="731520"/>
            <a:ext cx="1737360" cy="1737360"/>
          </a:xfrm>
          <a:prstGeom prst="roundRect">
            <a:avLst/>
          </a:prstGeom>
          <a:solidFill>
            <a:srgbClr val="1A0E15"/>
          </a:solidFill>
          <a:ln w="12700">
            <a:solidFill>
              <a:srgbClr val="E84A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-h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731520"/>
            <a:ext cx="1737360" cy="17373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22960" y="27889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 spc="240">
                <a:solidFill>
                  <a:srgbClr val="E84A9C"/>
                </a:solidFill>
                <a:latin typeface="Segoe UI"/>
              </a:rPr>
              <a:t>PROPUESTA DE TRABAJO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200400"/>
            <a:ext cx="82296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600"/>
              </a:spcAft>
            </a:pPr>
            <a:r>
              <a:rPr sz="5400" b="0" i="0">
                <a:solidFill>
                  <a:srgbClr val="FFFFFF"/>
                </a:solidFill>
                <a:latin typeface="Georgia"/>
              </a:rPr>
              <a:t>Más consultas para tu inmobiliaria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074920"/>
            <a:ext cx="73152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0" i="0">
                <a:solidFill>
                  <a:srgbClr val="E8CFDD"/>
                </a:solidFill>
                <a:latin typeface="Segoe UI"/>
              </a:rPr>
              <a:t>Un sistema para conseguir compradores e inquilinos reales en Tandil — todos los meses.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6172200"/>
            <a:ext cx="10543032" cy="12700"/>
          </a:xfrm>
          <a:prstGeom prst="rect">
            <a:avLst/>
          </a:prstGeom>
          <a:solidFill>
            <a:srgbClr val="6633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630936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 spc="110">
                <a:solidFill>
                  <a:srgbClr val="C79BB2"/>
                </a:solidFill>
                <a:latin typeface="Segoe UI"/>
              </a:rPr>
              <a:t>PREPARADO PARA </a:t>
            </a:r>
            <a:r>
              <a:rPr sz="1100" b="1" i="0" spc="110">
                <a:solidFill>
                  <a:srgbClr val="FFFFFF"/>
                </a:solidFill>
                <a:latin typeface="Segoe UI"/>
              </a:rPr>
              <a:t>LUCRECIA MORENO · NEGOCIOS INMOBILIARIOS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0" y="6309360"/>
            <a:ext cx="368503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 spc="110">
                <a:solidFill>
                  <a:srgbClr val="C79BB2"/>
                </a:solidFill>
                <a:latin typeface="Segoe UI"/>
              </a:rPr>
              <a:t>SANTINO MARCONI · JULIO DE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50392" y="56692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 spc="220">
                <a:solidFill>
                  <a:srgbClr val="B02467"/>
                </a:solidFill>
                <a:latin typeface="Segoe UI"/>
              </a:rPr>
              <a:t>LA SITUACIÓN HOY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68680"/>
            <a:ext cx="100584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400" b="0" i="0">
                <a:solidFill>
                  <a:srgbClr val="3B1329"/>
                </a:solidFill>
                <a:latin typeface="Georgia"/>
              </a:rPr>
              <a:t>Producís muchísimo. Lo ve muy poca gente.</a:t>
            </a:r>
          </a:p>
        </p:txBody>
      </p:sp>
      <p:sp>
        <p:nvSpPr>
          <p:cNvPr id="4" name="Rectangle 3"/>
          <p:cNvSpPr/>
          <p:nvPr/>
        </p:nvSpPr>
        <p:spPr>
          <a:xfrm>
            <a:off x="850392" y="1847088"/>
            <a:ext cx="548640" cy="38100"/>
          </a:xfrm>
          <a:prstGeom prst="rect">
            <a:avLst/>
          </a:prstGeom>
          <a:solidFill>
            <a:srgbClr val="E84A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0392" y="2468880"/>
            <a:ext cx="33832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6400" b="0" i="0">
                <a:solidFill>
                  <a:srgbClr val="3B1329"/>
                </a:solidFill>
                <a:latin typeface="Georgia"/>
              </a:rPr>
              <a:t>4.559</a:t>
            </a:r>
          </a:p>
        </p:txBody>
      </p:sp>
      <p:sp>
        <p:nvSpPr>
          <p:cNvPr id="6" name="Rectangle 5"/>
          <p:cNvSpPr/>
          <p:nvPr/>
        </p:nvSpPr>
        <p:spPr>
          <a:xfrm>
            <a:off x="850392" y="3611880"/>
            <a:ext cx="320040" cy="38100"/>
          </a:xfrm>
          <a:prstGeom prst="rect">
            <a:avLst/>
          </a:prstGeom>
          <a:solidFill>
            <a:srgbClr val="E84A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" y="3794760"/>
            <a:ext cx="29260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7A6570"/>
                </a:solidFill>
                <a:latin typeface="Segoe UI"/>
              </a:rPr>
              <a:t>seguidores en Instagram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70832" y="2468880"/>
            <a:ext cx="33832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6400" b="0" i="0">
                <a:solidFill>
                  <a:srgbClr val="3B1329"/>
                </a:solidFill>
                <a:latin typeface="Georgia"/>
              </a:rPr>
              <a:t>442</a:t>
            </a:r>
          </a:p>
        </p:txBody>
      </p:sp>
      <p:sp>
        <p:nvSpPr>
          <p:cNvPr id="9" name="Rectangle 8"/>
          <p:cNvSpPr/>
          <p:nvPr/>
        </p:nvSpPr>
        <p:spPr>
          <a:xfrm>
            <a:off x="4370832" y="3611880"/>
            <a:ext cx="320040" cy="38100"/>
          </a:xfrm>
          <a:prstGeom prst="rect">
            <a:avLst/>
          </a:prstGeom>
          <a:solidFill>
            <a:srgbClr val="E84A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70832" y="3794760"/>
            <a:ext cx="29260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7A6570"/>
                </a:solidFill>
                <a:latin typeface="Segoe UI"/>
              </a:rPr>
              <a:t>publicaciones que ya hiciste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91272" y="2468880"/>
            <a:ext cx="33832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6400" b="0" i="0">
                <a:solidFill>
                  <a:srgbClr val="3B1329"/>
                </a:solidFill>
                <a:latin typeface="Georgia"/>
              </a:rPr>
              <a:t>~12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891272" y="3611880"/>
            <a:ext cx="320040" cy="38100"/>
          </a:xfrm>
          <a:prstGeom prst="rect">
            <a:avLst/>
          </a:prstGeom>
          <a:solidFill>
            <a:srgbClr val="E84A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91272" y="3794760"/>
            <a:ext cx="29260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7A6570"/>
                </a:solidFill>
                <a:latin typeface="Segoe UI"/>
              </a:rPr>
              <a:t>"me gusta" por publicación, en promedio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" y="4800600"/>
            <a:ext cx="103327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0" i="0">
                <a:solidFill>
                  <a:srgbClr val="26121D"/>
                </a:solidFill>
                <a:latin typeface="Georgia"/>
              </a:rPr>
              <a:t>8 años de trabajo y una de las cuentas más activas de Tandil — pero el alcance sin pauta llegó a su techo. </a:t>
            </a:r>
            <a:r>
              <a:rPr sz="1900" b="1" i="0">
                <a:solidFill>
                  <a:srgbClr val="B02467"/>
                </a:solidFill>
                <a:latin typeface="Georgia"/>
              </a:rPr>
              <a:t>Menos de 1 de cada 100 seguidores</a:t>
            </a:r>
            <a:r>
              <a:rPr sz="1900" b="0" i="0">
                <a:solidFill>
                  <a:srgbClr val="26121D"/>
                </a:solidFill>
                <a:latin typeface="Georgia"/>
              </a:rPr>
              <a:t> ve cada posteo.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" y="6355080"/>
            <a:ext cx="10543032" cy="12700"/>
          </a:xfrm>
          <a:prstGeom prst="rect">
            <a:avLst/>
          </a:prstGeom>
          <a:solidFill>
            <a:srgbClr val="F0D9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6419088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 spc="120">
                <a:solidFill>
                  <a:srgbClr val="3B1329"/>
                </a:solidFill>
                <a:latin typeface="Segoe UI"/>
              </a:rPr>
              <a:t>SANTINO MARCONI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0" y="6419088"/>
            <a:ext cx="39593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 spc="120">
                <a:solidFill>
                  <a:srgbClr val="7A6570"/>
                </a:solidFill>
                <a:latin typeface="Segoe UI"/>
              </a:rPr>
              <a:t>DATOS DE TU CUENTA DE INSTAGRAM · JULIO 2026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0" y="6419088"/>
            <a:ext cx="26791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 spc="120">
                <a:solidFill>
                  <a:srgbClr val="7A6570"/>
                </a:solidFill>
                <a:latin typeface="Segoe UI"/>
              </a:rPr>
              <a:t>2 /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B13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50392" y="56692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 spc="220">
                <a:solidFill>
                  <a:srgbClr val="F4A9CE"/>
                </a:solidFill>
                <a:latin typeface="Segoe UI"/>
              </a:rPr>
              <a:t>MIENTRAS TANTO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68680"/>
            <a:ext cx="100584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Georgia"/>
              </a:rPr>
              <a:t>Tu competencia ya está pagando publicidad.</a:t>
            </a:r>
          </a:p>
        </p:txBody>
      </p:sp>
      <p:sp>
        <p:nvSpPr>
          <p:cNvPr id="4" name="Rectangle 3"/>
          <p:cNvSpPr/>
          <p:nvPr/>
        </p:nvSpPr>
        <p:spPr>
          <a:xfrm>
            <a:off x="850392" y="1847088"/>
            <a:ext cx="548640" cy="38100"/>
          </a:xfrm>
          <a:prstGeom prst="rect">
            <a:avLst/>
          </a:prstGeom>
          <a:solidFill>
            <a:srgbClr val="E84A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0392" y="2651760"/>
            <a:ext cx="100584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0" i="0">
                <a:solidFill>
                  <a:srgbClr val="FFFFFF"/>
                </a:solidFill>
                <a:latin typeface="Georgia"/>
              </a:rPr>
              <a:t>Más de </a:t>
            </a:r>
            <a:r>
              <a:rPr sz="2600" b="1" i="0">
                <a:solidFill>
                  <a:srgbClr val="F4A9CE"/>
                </a:solidFill>
                <a:latin typeface="Georgia"/>
              </a:rPr>
              <a:t>una docena de inmobiliarias de Tandil</a:t>
            </a:r>
            <a:r>
              <a:rPr sz="2600" b="0" i="0">
                <a:solidFill>
                  <a:srgbClr val="FFFFFF"/>
                </a:solidFill>
                <a:latin typeface="Georgia"/>
              </a:rPr>
              <a:t> tienen avisos pagos en Facebook e Instagram en este momento — algunas con catálogos automáticos y formularios de tasación.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" y="448056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0" i="0">
                <a:solidFill>
                  <a:srgbClr val="FFFFFF"/>
                </a:solidFill>
                <a:latin typeface="Georgia"/>
              </a:rPr>
              <a:t>Aparecen frente a los compradores todos los días. </a:t>
            </a:r>
            <a:r>
              <a:rPr sz="2600" b="1" i="0">
                <a:solidFill>
                  <a:srgbClr val="F4A9CE"/>
                </a:solidFill>
                <a:latin typeface="Georgia"/>
              </a:rPr>
              <a:t>Hoy vos no estás ahí.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6355080"/>
            <a:ext cx="10543032" cy="12700"/>
          </a:xfrm>
          <a:prstGeom prst="rect">
            <a:avLst/>
          </a:prstGeom>
          <a:solidFill>
            <a:srgbClr val="552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6419088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 spc="120">
                <a:solidFill>
                  <a:srgbClr val="FFFFFF"/>
                </a:solidFill>
                <a:latin typeface="Segoe UI"/>
              </a:rPr>
              <a:t>SANTINO MARCONI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0" y="6419088"/>
            <a:ext cx="39593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 spc="120">
                <a:solidFill>
                  <a:srgbClr val="C79BB2"/>
                </a:solidFill>
                <a:latin typeface="Segoe UI"/>
              </a:rPr>
              <a:t>BIBLIOTECA DE ANUNCIOS DE META · JULIO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0" y="6419088"/>
            <a:ext cx="26791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 spc="120">
                <a:solidFill>
                  <a:srgbClr val="C79BB2"/>
                </a:solidFill>
                <a:latin typeface="Segoe UI"/>
              </a:rPr>
              <a:t>3 /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50392" y="56692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 spc="220">
                <a:solidFill>
                  <a:srgbClr val="B02467"/>
                </a:solidFill>
                <a:latin typeface="Segoe UI"/>
              </a:rPr>
              <a:t>MI PROPUESTA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68680"/>
            <a:ext cx="100584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400" b="0" i="0">
                <a:solidFill>
                  <a:srgbClr val="3B1329"/>
                </a:solidFill>
                <a:latin typeface="Georgia"/>
              </a:rPr>
              <a:t>Poner tus propiedades adelante de quien busca.</a:t>
            </a:r>
          </a:p>
        </p:txBody>
      </p:sp>
      <p:sp>
        <p:nvSpPr>
          <p:cNvPr id="4" name="Rectangle 3"/>
          <p:cNvSpPr/>
          <p:nvPr/>
        </p:nvSpPr>
        <p:spPr>
          <a:xfrm>
            <a:off x="850392" y="1847088"/>
            <a:ext cx="548640" cy="38100"/>
          </a:xfrm>
          <a:prstGeom prst="rect">
            <a:avLst/>
          </a:prstGeom>
          <a:solidFill>
            <a:srgbClr val="E84A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0392" y="2743200"/>
            <a:ext cx="1005840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0" i="0">
                <a:solidFill>
                  <a:srgbClr val="26121D"/>
                </a:solidFill>
                <a:latin typeface="Georgia"/>
              </a:rPr>
              <a:t>Me encargo de mostrar tus propiedades con publicidad paga a la gente que está buscando comprar o alquilar en Tandil y la zona, y de que esas </a:t>
            </a:r>
            <a:r>
              <a:rPr sz="2600" b="1" i="0">
                <a:solidFill>
                  <a:srgbClr val="B02467"/>
                </a:solidFill>
                <a:latin typeface="Georgia"/>
              </a:rPr>
              <a:t>consultas te lleguen directo al WhatsApp</a:t>
            </a:r>
            <a:r>
              <a:rPr sz="2600" b="0" i="0">
                <a:solidFill>
                  <a:srgbClr val="26121D"/>
                </a:solidFill>
                <a:latin typeface="Georgia"/>
              </a:rPr>
              <a:t>, ordenadas y listas para atender.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6355080"/>
            <a:ext cx="10543032" cy="12700"/>
          </a:xfrm>
          <a:prstGeom prst="rect">
            <a:avLst/>
          </a:prstGeom>
          <a:solidFill>
            <a:srgbClr val="F0D9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6419088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 spc="120">
                <a:solidFill>
                  <a:srgbClr val="3B1329"/>
                </a:solidFill>
                <a:latin typeface="Segoe UI"/>
              </a:rPr>
              <a:t>SANTINO MARCONI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6419088"/>
            <a:ext cx="39593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 spc="120">
                <a:solidFill>
                  <a:srgbClr val="7A6570"/>
                </a:solidFill>
                <a:latin typeface="Segoe UI"/>
              </a:rPr>
              <a:t>PROPUESTA · LUCRECIA MORENO NEGOCIOS INMOBILIARIOS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0" y="6419088"/>
            <a:ext cx="26791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 spc="120">
                <a:solidFill>
                  <a:srgbClr val="7A6570"/>
                </a:solidFill>
                <a:latin typeface="Segoe UI"/>
              </a:rPr>
              <a:t>4 /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50392" y="56692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 spc="220">
                <a:solidFill>
                  <a:srgbClr val="B02467"/>
                </a:solidFill>
                <a:latin typeface="Segoe UI"/>
              </a:rPr>
              <a:t>CÓMO FUNCIONA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68680"/>
            <a:ext cx="100584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400" b="0" i="0">
                <a:solidFill>
                  <a:srgbClr val="3B1329"/>
                </a:solidFill>
                <a:latin typeface="Georgia"/>
              </a:rPr>
              <a:t>Tres pasos, simple.</a:t>
            </a:r>
          </a:p>
        </p:txBody>
      </p:sp>
      <p:sp>
        <p:nvSpPr>
          <p:cNvPr id="4" name="Rectangle 3"/>
          <p:cNvSpPr/>
          <p:nvPr/>
        </p:nvSpPr>
        <p:spPr>
          <a:xfrm>
            <a:off x="850392" y="1847088"/>
            <a:ext cx="548640" cy="38100"/>
          </a:xfrm>
          <a:prstGeom prst="rect">
            <a:avLst/>
          </a:prstGeom>
          <a:solidFill>
            <a:srgbClr val="E84A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0392" y="2560320"/>
            <a:ext cx="914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4000" b="1" i="0">
                <a:solidFill>
                  <a:srgbClr val="E84A9C"/>
                </a:solidFill>
                <a:latin typeface="Georgia"/>
              </a:rPr>
              <a:t>1</a:t>
            </a:r>
          </a:p>
        </p:txBody>
      </p:sp>
      <p:sp>
        <p:nvSpPr>
          <p:cNvPr id="6" name="Rectangle 5"/>
          <p:cNvSpPr/>
          <p:nvPr/>
        </p:nvSpPr>
        <p:spPr>
          <a:xfrm>
            <a:off x="850392" y="3429000"/>
            <a:ext cx="3108960" cy="12700"/>
          </a:xfrm>
          <a:prstGeom prst="rect">
            <a:avLst/>
          </a:prstGeom>
          <a:solidFill>
            <a:srgbClr val="F0D9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" y="3611880"/>
            <a:ext cx="3108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300" b="0" i="0">
                <a:solidFill>
                  <a:srgbClr val="3B1329"/>
                </a:solidFill>
                <a:latin typeface="Georgia"/>
              </a:rPr>
              <a:t>Mostramos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" y="4160520"/>
            <a:ext cx="31089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7A6570"/>
                </a:solidFill>
                <a:latin typeface="Segoe UI"/>
              </a:rPr>
              <a:t>Tus propiedades aparecen como avisos pagos frente a compradores e inquilinos de Tandil y la región.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70832" y="2560320"/>
            <a:ext cx="914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4000" b="1" i="0">
                <a:solidFill>
                  <a:srgbClr val="E84A9C"/>
                </a:solidFill>
                <a:latin typeface="Georgia"/>
              </a:rPr>
              <a:t>2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70832" y="3429000"/>
            <a:ext cx="3108960" cy="12700"/>
          </a:xfrm>
          <a:prstGeom prst="rect">
            <a:avLst/>
          </a:prstGeom>
          <a:solidFill>
            <a:srgbClr val="F0D9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70832" y="3611880"/>
            <a:ext cx="3108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300" b="0" i="0">
                <a:solidFill>
                  <a:srgbClr val="3B1329"/>
                </a:solidFill>
                <a:latin typeface="Georgia"/>
              </a:rPr>
              <a:t>Consultan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70832" y="4160520"/>
            <a:ext cx="31089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7A6570"/>
                </a:solidFill>
                <a:latin typeface="Segoe UI"/>
              </a:rPr>
              <a:t>El interesado deja su nombre y teléfono, o te escribe directo por WhatsApp.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91272" y="2560320"/>
            <a:ext cx="914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4000" b="1" i="0">
                <a:solidFill>
                  <a:srgbClr val="E84A9C"/>
                </a:solidFill>
                <a:latin typeface="Georgia"/>
              </a:rPr>
              <a:t>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891272" y="3429000"/>
            <a:ext cx="3108960" cy="12700"/>
          </a:xfrm>
          <a:prstGeom prst="rect">
            <a:avLst/>
          </a:prstGeom>
          <a:solidFill>
            <a:srgbClr val="F0D9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91272" y="3611880"/>
            <a:ext cx="3108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300" b="0" i="0">
                <a:solidFill>
                  <a:srgbClr val="3B1329"/>
                </a:solidFill>
                <a:latin typeface="Georgia"/>
              </a:rPr>
              <a:t>Cerrás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91272" y="4160520"/>
            <a:ext cx="31089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7A6570"/>
                </a:solidFill>
                <a:latin typeface="Segoe UI"/>
              </a:rPr>
              <a:t>Vos atendés la consulta, coordinás la visita y cerrás la operación.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" y="6355080"/>
            <a:ext cx="10543032" cy="12700"/>
          </a:xfrm>
          <a:prstGeom prst="rect">
            <a:avLst/>
          </a:prstGeom>
          <a:solidFill>
            <a:srgbClr val="F0D9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6419088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 spc="120">
                <a:solidFill>
                  <a:srgbClr val="3B1329"/>
                </a:solidFill>
                <a:latin typeface="Segoe UI"/>
              </a:rPr>
              <a:t>SANTINO MARCONI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0" y="6419088"/>
            <a:ext cx="39593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 spc="120">
                <a:solidFill>
                  <a:srgbClr val="7A6570"/>
                </a:solidFill>
                <a:latin typeface="Segoe UI"/>
              </a:rPr>
              <a:t>PROPUESTA · LUCRECIA MORENO NEGOCIOS INMOBILIARIOS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0" y="6419088"/>
            <a:ext cx="26791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 spc="120">
                <a:solidFill>
                  <a:srgbClr val="7A6570"/>
                </a:solidFill>
                <a:latin typeface="Segoe UI"/>
              </a:rPr>
              <a:t>5 /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B13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50392" y="56692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 spc="220">
                <a:solidFill>
                  <a:srgbClr val="F4A9CE"/>
                </a:solidFill>
                <a:latin typeface="Segoe UI"/>
              </a:rPr>
              <a:t>LO MÁS VALIOSO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68680"/>
            <a:ext cx="100584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Georgia"/>
              </a:rPr>
              <a:t>El premio no es una propiedad. Son los clientes.</a:t>
            </a:r>
          </a:p>
        </p:txBody>
      </p:sp>
      <p:sp>
        <p:nvSpPr>
          <p:cNvPr id="4" name="Rectangle 3"/>
          <p:cNvSpPr/>
          <p:nvPr/>
        </p:nvSpPr>
        <p:spPr>
          <a:xfrm>
            <a:off x="850392" y="1847088"/>
            <a:ext cx="548640" cy="38100"/>
          </a:xfrm>
          <a:prstGeom prst="rect">
            <a:avLst/>
          </a:prstGeom>
          <a:solidFill>
            <a:srgbClr val="E84A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0392" y="2651760"/>
            <a:ext cx="1005840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2500" b="0" i="0">
                <a:solidFill>
                  <a:srgbClr val="FFFFFF"/>
                </a:solidFill>
                <a:latin typeface="Georgia"/>
              </a:rPr>
              <a:t>Cada persona que consulta por un aviso queda como </a:t>
            </a:r>
            <a:r>
              <a:rPr sz="2500" b="1" i="0">
                <a:solidFill>
                  <a:srgbClr val="F4A9CE"/>
                </a:solidFill>
                <a:latin typeface="Georgia"/>
              </a:rPr>
              <a:t>cliente interesado</a:t>
            </a:r>
            <a:r>
              <a:rPr sz="2500" b="0" i="0">
                <a:solidFill>
                  <a:srgbClr val="FFFFFF"/>
                </a:solidFill>
                <a:latin typeface="Georgia"/>
              </a:rPr>
              <a:t>. Aunque no cierre por esa propiedad, ya sabés qué busca y cuánto puede pagar — y le ofrecés otra de tu cartera.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" y="4526280"/>
            <a:ext cx="10058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2500" b="0" i="0">
                <a:solidFill>
                  <a:srgbClr val="FFFFFF"/>
                </a:solidFill>
                <a:latin typeface="Georgia"/>
              </a:rPr>
              <a:t>Cada campaña te va armando una </a:t>
            </a:r>
            <a:r>
              <a:rPr sz="2500" b="1" i="0">
                <a:solidFill>
                  <a:srgbClr val="F4A9CE"/>
                </a:solidFill>
                <a:latin typeface="Georgia"/>
              </a:rPr>
              <a:t>lista de compradores e inquilinos reales</a:t>
            </a:r>
            <a:r>
              <a:rPr sz="2500" b="0" i="0">
                <a:solidFill>
                  <a:srgbClr val="FFFFFF"/>
                </a:solidFill>
                <a:latin typeface="Georgia"/>
              </a:rPr>
              <a:t> de Tandil. Eso es lo que de verdad hace crecer tu inmobiliaria.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6355080"/>
            <a:ext cx="10543032" cy="12700"/>
          </a:xfrm>
          <a:prstGeom prst="rect">
            <a:avLst/>
          </a:prstGeom>
          <a:solidFill>
            <a:srgbClr val="552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6419088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 spc="120">
                <a:solidFill>
                  <a:srgbClr val="FFFFFF"/>
                </a:solidFill>
                <a:latin typeface="Segoe UI"/>
              </a:rPr>
              <a:t>SANTINO MARCONI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0" y="6419088"/>
            <a:ext cx="39593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 spc="120">
                <a:solidFill>
                  <a:srgbClr val="C79BB2"/>
                </a:solidFill>
                <a:latin typeface="Segoe UI"/>
              </a:rPr>
              <a:t>PROPUESTA · LUCRECIA MORENO NEGOCIOS INMOBILIARIOS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0" y="6419088"/>
            <a:ext cx="26791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 spc="120">
                <a:solidFill>
                  <a:srgbClr val="C79BB2"/>
                </a:solidFill>
                <a:latin typeface="Segoe UI"/>
              </a:rPr>
              <a:t>6 /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50392" y="56692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 spc="220">
                <a:solidFill>
                  <a:srgbClr val="B02467"/>
                </a:solidFill>
                <a:latin typeface="Segoe UI"/>
              </a:rPr>
              <a:t>PARA EMPEZAR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68680"/>
            <a:ext cx="100584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400" b="0" i="0">
                <a:solidFill>
                  <a:srgbClr val="3B1329"/>
                </a:solidFill>
                <a:latin typeface="Georgia"/>
              </a:rPr>
              <a:t>Arrancamos con estas propiedades.</a:t>
            </a:r>
          </a:p>
        </p:txBody>
      </p:sp>
      <p:sp>
        <p:nvSpPr>
          <p:cNvPr id="4" name="Rectangle 3"/>
          <p:cNvSpPr/>
          <p:nvPr/>
        </p:nvSpPr>
        <p:spPr>
          <a:xfrm>
            <a:off x="850392" y="1847088"/>
            <a:ext cx="548640" cy="38100"/>
          </a:xfrm>
          <a:prstGeom prst="rect">
            <a:avLst/>
          </a:prstGeom>
          <a:solidFill>
            <a:srgbClr val="E84A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casa-juanbjusto-62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392" y="2331720"/>
            <a:ext cx="2487168" cy="186537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50392" y="4306824"/>
            <a:ext cx="248716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26121D"/>
                </a:solidFill>
                <a:latin typeface="Georgia"/>
              </a:rPr>
              <a:t>Casa Av. Juan B. Justo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" y="4764024"/>
            <a:ext cx="248716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B02467"/>
                </a:solidFill>
                <a:latin typeface="Segoe UI"/>
              </a:rPr>
              <a:t>U$S 62.000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" y="5129784"/>
            <a:ext cx="248716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 spc="50">
                <a:solidFill>
                  <a:srgbClr val="7A6570"/>
                </a:solidFill>
                <a:latin typeface="Segoe UI"/>
              </a:rPr>
              <a:t>LISTA PARA HABITAR</a:t>
            </a:r>
          </a:p>
        </p:txBody>
      </p:sp>
      <p:pic>
        <p:nvPicPr>
          <p:cNvPr id="9" name="Picture 8" descr="casas-a-estrenar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84448" y="2331720"/>
            <a:ext cx="2487168" cy="186537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584448" y="4306824"/>
            <a:ext cx="248716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26121D"/>
                </a:solidFill>
                <a:latin typeface="Georgia"/>
              </a:rPr>
              <a:t>Casas a estrenar · PH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84448" y="4764024"/>
            <a:ext cx="248716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B02467"/>
                </a:solidFill>
                <a:latin typeface="Segoe UI"/>
              </a:rPr>
              <a:t>A estrenar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84448" y="5129784"/>
            <a:ext cx="248716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 spc="50">
                <a:solidFill>
                  <a:srgbClr val="7A6570"/>
                </a:solidFill>
                <a:latin typeface="Segoe UI"/>
              </a:rPr>
              <a:t>OBRA NUEVA</a:t>
            </a:r>
          </a:p>
        </p:txBody>
      </p:sp>
      <p:pic>
        <p:nvPicPr>
          <p:cNvPr id="13" name="Picture 12" descr="lotes-la-mata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18504" y="2331720"/>
            <a:ext cx="2487168" cy="1865376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6318504" y="2331720"/>
            <a:ext cx="2487168" cy="1865376"/>
          </a:xfrm>
          <a:prstGeom prst="rect">
            <a:avLst/>
          </a:prstGeom>
          <a:noFill/>
          <a:ln w="31750">
            <a:solidFill>
              <a:srgbClr val="E84A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18504" y="2331720"/>
            <a:ext cx="1051560" cy="310896"/>
          </a:xfrm>
          <a:prstGeom prst="rect">
            <a:avLst/>
          </a:prstGeom>
          <a:solidFill>
            <a:srgbClr val="E84A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800" tIns="12700" bIns="12700"/>
          <a:lstStyle/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FINANCIA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18504" y="4306824"/>
            <a:ext cx="248716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26121D"/>
                </a:solidFill>
                <a:latin typeface="Georgia"/>
              </a:rPr>
              <a:t>Lotes Barrio La Mata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18504" y="4764024"/>
            <a:ext cx="248716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B02467"/>
                </a:solidFill>
                <a:latin typeface="Segoe UI"/>
              </a:rPr>
              <a:t>Desde U$S 57.000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18504" y="5129784"/>
            <a:ext cx="248716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 spc="50">
                <a:solidFill>
                  <a:srgbClr val="7A6570"/>
                </a:solidFill>
                <a:latin typeface="Segoe UI"/>
              </a:rPr>
              <a:t>INVERSIÓN</a:t>
            </a:r>
          </a:p>
        </p:txBody>
      </p:sp>
      <p:pic>
        <p:nvPicPr>
          <p:cNvPr id="19" name="Picture 18" descr="casa-3dorm-primerajunta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52560" y="2331720"/>
            <a:ext cx="2487168" cy="1865376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9052560" y="4306824"/>
            <a:ext cx="248716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26121D"/>
                </a:solidFill>
                <a:latin typeface="Georgia"/>
              </a:rPr>
              <a:t>Casa Primera Junta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0" y="4764024"/>
            <a:ext cx="248716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B02467"/>
                </a:solidFill>
                <a:latin typeface="Segoe UI"/>
              </a:rPr>
              <a:t>3 dormitorios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60" y="5129784"/>
            <a:ext cx="248716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 spc="50">
                <a:solidFill>
                  <a:srgbClr val="7A6570"/>
                </a:solidFill>
                <a:latin typeface="Segoe UI"/>
              </a:rPr>
              <a:t>FAMILIAR · CON QUINCHO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392" y="5532120"/>
            <a:ext cx="104241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0" i="0">
                <a:solidFill>
                  <a:srgbClr val="26121D"/>
                </a:solidFill>
                <a:latin typeface="Georgia"/>
              </a:rPr>
              <a:t>Una por cada rango. Sumamos también un alquiler de volumen para captar inquilinos. Cada aviso abre la puerta a nuevos clientes, cierren o no.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2960" y="6355080"/>
            <a:ext cx="10543032" cy="12700"/>
          </a:xfrm>
          <a:prstGeom prst="rect">
            <a:avLst/>
          </a:prstGeom>
          <a:solidFill>
            <a:srgbClr val="F0D9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6419088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 spc="120">
                <a:solidFill>
                  <a:srgbClr val="3B1329"/>
                </a:solidFill>
                <a:latin typeface="Segoe UI"/>
              </a:rPr>
              <a:t>SANTINO MARCONI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800" y="6419088"/>
            <a:ext cx="39593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 spc="120">
                <a:solidFill>
                  <a:srgbClr val="7A6570"/>
                </a:solidFill>
                <a:latin typeface="Segoe UI"/>
              </a:rPr>
              <a:t>PROPUESTA · LUCRECIA MORENO NEGOCIOS INMOBILIARIOS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0" y="6419088"/>
            <a:ext cx="26791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 spc="120">
                <a:solidFill>
                  <a:srgbClr val="7A6570"/>
                </a:solidFill>
                <a:latin typeface="Segoe UI"/>
              </a:rPr>
              <a:t>7 /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B13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50392" y="56692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 spc="220">
                <a:solidFill>
                  <a:srgbClr val="F4A9CE"/>
                </a:solidFill>
                <a:latin typeface="Segoe UI"/>
              </a:rPr>
              <a:t>EL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68680"/>
            <a:ext cx="100584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Georgia"/>
              </a:rPr>
              <a:t>Qué pasa una vez que arrancamos.</a:t>
            </a:r>
          </a:p>
        </p:txBody>
      </p:sp>
      <p:sp>
        <p:nvSpPr>
          <p:cNvPr id="4" name="Rectangle 3"/>
          <p:cNvSpPr/>
          <p:nvPr/>
        </p:nvSpPr>
        <p:spPr>
          <a:xfrm>
            <a:off x="850392" y="1847088"/>
            <a:ext cx="548640" cy="38100"/>
          </a:xfrm>
          <a:prstGeom prst="rect">
            <a:avLst/>
          </a:prstGeom>
          <a:solidFill>
            <a:srgbClr val="E84A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50392" y="2651760"/>
            <a:ext cx="31750" cy="2011680"/>
          </a:xfrm>
          <a:prstGeom prst="rect">
            <a:avLst/>
          </a:prstGeom>
          <a:solidFill>
            <a:srgbClr val="E84A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2651760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 spc="120">
                <a:solidFill>
                  <a:srgbClr val="F4A9CE"/>
                </a:solidFill>
                <a:latin typeface="Segoe UI"/>
              </a:rPr>
              <a:t>PRIMERA SEMANA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3063240"/>
            <a:ext cx="30175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300" b="0" i="0">
                <a:solidFill>
                  <a:srgbClr val="FFFFFF"/>
                </a:solidFill>
                <a:latin typeface="Georgia"/>
              </a:rPr>
              <a:t>Dejo todo funcionando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4069080"/>
            <a:ext cx="30175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E8CFDD"/>
                </a:solidFill>
                <a:latin typeface="Segoe UI"/>
              </a:rPr>
              <a:t>Configuro la publicidad y los avisos. En 7 días está en marcha.</a:t>
            </a:r>
          </a:p>
        </p:txBody>
      </p:sp>
      <p:sp>
        <p:nvSpPr>
          <p:cNvPr id="9" name="Rectangle 8"/>
          <p:cNvSpPr/>
          <p:nvPr/>
        </p:nvSpPr>
        <p:spPr>
          <a:xfrm>
            <a:off x="4416552" y="2651760"/>
            <a:ext cx="31750" cy="2011680"/>
          </a:xfrm>
          <a:prstGeom prst="rect">
            <a:avLst/>
          </a:prstGeom>
          <a:solidFill>
            <a:srgbClr val="E84A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2651760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 spc="120">
                <a:solidFill>
                  <a:srgbClr val="F4A9CE"/>
                </a:solidFill>
                <a:latin typeface="Segoe UI"/>
              </a:rPr>
              <a:t>PRIMER MES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7720" y="3063240"/>
            <a:ext cx="30175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300" b="0" i="0">
                <a:solidFill>
                  <a:srgbClr val="FFFFFF"/>
                </a:solidFill>
                <a:latin typeface="Georgia"/>
              </a:rPr>
              <a:t>Empiezan las consultas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4069080"/>
            <a:ext cx="30175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E8CFDD"/>
                </a:solidFill>
                <a:latin typeface="Segoe UI"/>
              </a:rPr>
              <a:t>Llegan los primeros interesados a tu WhatsApp. Primer informe.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82712" y="2651760"/>
            <a:ext cx="31750" cy="2011680"/>
          </a:xfrm>
          <a:prstGeom prst="rect">
            <a:avLst/>
          </a:prstGeom>
          <a:solidFill>
            <a:srgbClr val="E84A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83880" y="2651760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 spc="120">
                <a:solidFill>
                  <a:srgbClr val="F4A9CE"/>
                </a:solidFill>
                <a:latin typeface="Segoe UI"/>
              </a:rPr>
              <a:t>MESES 2 Y 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83880" y="3063240"/>
            <a:ext cx="30175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300" b="0" i="0">
                <a:solidFill>
                  <a:srgbClr val="FFFFFF"/>
                </a:solidFill>
                <a:latin typeface="Georgia"/>
              </a:rPr>
              <a:t>Agrandamos lo que funciona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83880" y="4069080"/>
            <a:ext cx="30175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E8CFDD"/>
                </a:solidFill>
                <a:latin typeface="Segoe UI"/>
              </a:rPr>
              <a:t>Ponemos más donde mejor responde y sumamos propiedades.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" y="6355080"/>
            <a:ext cx="10543032" cy="12700"/>
          </a:xfrm>
          <a:prstGeom prst="rect">
            <a:avLst/>
          </a:prstGeom>
          <a:solidFill>
            <a:srgbClr val="552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6419088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 spc="120">
                <a:solidFill>
                  <a:srgbClr val="FFFFFF"/>
                </a:solidFill>
                <a:latin typeface="Segoe UI"/>
              </a:rPr>
              <a:t>SANTINO MARCONI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0" y="6419088"/>
            <a:ext cx="39593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 spc="120">
                <a:solidFill>
                  <a:srgbClr val="C79BB2"/>
                </a:solidFill>
                <a:latin typeface="Segoe UI"/>
              </a:rPr>
              <a:t>PROPUESTA · LUCRECIA MORENO NEGOCIOS INMOBILIARIOS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0" y="6419088"/>
            <a:ext cx="26791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 spc="120">
                <a:solidFill>
                  <a:srgbClr val="C79BB2"/>
                </a:solidFill>
                <a:latin typeface="Segoe UI"/>
              </a:rPr>
              <a:t>8 /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50392" y="56692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 spc="220">
                <a:solidFill>
                  <a:srgbClr val="B02467"/>
                </a:solidFill>
                <a:latin typeface="Segoe UI"/>
              </a:rPr>
              <a:t>LA INVERSIÓN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68680"/>
            <a:ext cx="100584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400" b="0" i="0">
                <a:solidFill>
                  <a:srgbClr val="3B1329"/>
                </a:solidFill>
                <a:latin typeface="Georgia"/>
              </a:rPr>
              <a:t>Claro y sin sorpresas.</a:t>
            </a:r>
          </a:p>
        </p:txBody>
      </p:sp>
      <p:sp>
        <p:nvSpPr>
          <p:cNvPr id="4" name="Rectangle 3"/>
          <p:cNvSpPr/>
          <p:nvPr/>
        </p:nvSpPr>
        <p:spPr>
          <a:xfrm>
            <a:off x="850392" y="1847088"/>
            <a:ext cx="548640" cy="38100"/>
          </a:xfrm>
          <a:prstGeom prst="rect">
            <a:avLst/>
          </a:prstGeom>
          <a:solidFill>
            <a:srgbClr val="E84A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50392" y="2468880"/>
            <a:ext cx="5760720" cy="3017520"/>
          </a:xfrm>
          <a:prstGeom prst="roundRect">
            <a:avLst/>
          </a:prstGeom>
          <a:solidFill>
            <a:srgbClr val="FBEE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3291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0" i="0">
                <a:solidFill>
                  <a:srgbClr val="26121D"/>
                </a:solidFill>
                <a:latin typeface="Segoe UI"/>
              </a:rPr>
              <a:t>Mi honorario mensual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2743200"/>
            <a:ext cx="1737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400" b="1" i="0">
                <a:solidFill>
                  <a:srgbClr val="3B1329"/>
                </a:solidFill>
                <a:latin typeface="Georgia"/>
              </a:rPr>
              <a:t>$400.000</a:t>
            </a:r>
          </a:p>
        </p:txBody>
      </p:sp>
      <p:sp>
        <p:nvSpPr>
          <p:cNvPr id="8" name="Rectangle 7"/>
          <p:cNvSpPr/>
          <p:nvPr/>
        </p:nvSpPr>
        <p:spPr>
          <a:xfrm>
            <a:off x="1143000" y="3493008"/>
            <a:ext cx="5166360" cy="12700"/>
          </a:xfrm>
          <a:prstGeom prst="rect">
            <a:avLst/>
          </a:prstGeom>
          <a:solidFill>
            <a:srgbClr val="F0D9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3639312"/>
            <a:ext cx="3291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0" i="0">
                <a:solidFill>
                  <a:srgbClr val="26121D"/>
                </a:solidFill>
                <a:latin typeface="Segoe UI"/>
              </a:rPr>
              <a:t>Publicidad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4005072"/>
            <a:ext cx="3474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7A6570"/>
                </a:solidFill>
                <a:latin typeface="Segoe UI"/>
              </a:rPr>
              <a:t>la pagás vos, va directo a Facebook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3639312"/>
            <a:ext cx="1737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400" b="1" i="0">
                <a:solidFill>
                  <a:srgbClr val="3B1329"/>
                </a:solidFill>
                <a:latin typeface="Georgia"/>
              </a:rPr>
              <a:t>$300.000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4389120"/>
            <a:ext cx="5166360" cy="12700"/>
          </a:xfrm>
          <a:prstGeom prst="rect">
            <a:avLst/>
          </a:prstGeom>
          <a:solidFill>
            <a:srgbClr val="F0D9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4535424"/>
            <a:ext cx="3291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0" i="0">
                <a:solidFill>
                  <a:srgbClr val="26121D"/>
                </a:solidFill>
                <a:latin typeface="Segoe UI"/>
              </a:rPr>
              <a:t>Comisión sobre operaciones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4901184"/>
            <a:ext cx="3474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7A6570"/>
                </a:solidFill>
                <a:latin typeface="Segoe UI"/>
              </a:rPr>
              <a:t>solo de las que salen de este trabajo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4535424"/>
            <a:ext cx="1737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400" b="1" i="0">
                <a:solidFill>
                  <a:srgbClr val="B02467"/>
                </a:solidFill>
                <a:latin typeface="Georgia"/>
              </a:rPr>
              <a:t>10%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0880" y="2606040"/>
            <a:ext cx="42976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2900" b="0" i="0">
                <a:solidFill>
                  <a:srgbClr val="3B1329"/>
                </a:solidFill>
                <a:latin typeface="Georgia"/>
              </a:rPr>
              <a:t>Una sola operación cubre meses de trabajo.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40880" y="3794760"/>
            <a:ext cx="42976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7A6570"/>
                </a:solidFill>
                <a:latin typeface="Segoe UI"/>
              </a:rPr>
              <a:t>El 10% se cobra únicamente sobre las ventas y alquileres de clientes que llegan por este sistema.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040880" y="4754880"/>
            <a:ext cx="4114800" cy="12700"/>
          </a:xfrm>
          <a:prstGeom prst="rect">
            <a:avLst/>
          </a:prstGeom>
          <a:solidFill>
            <a:srgbClr val="F0D9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040880" y="4892040"/>
            <a:ext cx="4297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B02467"/>
                </a:solidFill>
                <a:latin typeface="Segoe UI"/>
              </a:rPr>
              <a:t>Otra opción: </a:t>
            </a:r>
            <a:r>
              <a:rPr sz="1400" b="0" i="0">
                <a:solidFill>
                  <a:srgbClr val="7A6570"/>
                </a:solidFill>
                <a:latin typeface="Segoe UI"/>
              </a:rPr>
              <a:t>$300.000 de honorario + 15% sobre esas operaciones.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" y="6355080"/>
            <a:ext cx="10543032" cy="12700"/>
          </a:xfrm>
          <a:prstGeom prst="rect">
            <a:avLst/>
          </a:prstGeom>
          <a:solidFill>
            <a:srgbClr val="F0D9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6419088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 spc="120">
                <a:solidFill>
                  <a:srgbClr val="3B1329"/>
                </a:solidFill>
                <a:latin typeface="Segoe UI"/>
              </a:rPr>
              <a:t>SANTINO MARCONI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0" y="6419088"/>
            <a:ext cx="39593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 spc="120">
                <a:solidFill>
                  <a:srgbClr val="7A6570"/>
                </a:solidFill>
                <a:latin typeface="Segoe UI"/>
              </a:rPr>
              <a:t>COMPROMISO INICIAL DE 90 DÍAS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0" y="6419088"/>
            <a:ext cx="26791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 spc="120">
                <a:solidFill>
                  <a:srgbClr val="7A6570"/>
                </a:solidFill>
                <a:latin typeface="Segoe UI"/>
              </a:rPr>
              <a:t>9 /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50392" y="56692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 spc="220">
                <a:solidFill>
                  <a:srgbClr val="B02467"/>
                </a:solidFill>
                <a:latin typeface="Segoe UI"/>
              </a:rPr>
              <a:t>VAS A ESTAR AL TANTO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68680"/>
            <a:ext cx="100584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400" b="0" i="0">
                <a:solidFill>
                  <a:srgbClr val="3B1329"/>
                </a:solidFill>
                <a:latin typeface="Georgia"/>
              </a:rPr>
              <a:t>Un informe claro cada 15 días.</a:t>
            </a:r>
          </a:p>
        </p:txBody>
      </p:sp>
      <p:sp>
        <p:nvSpPr>
          <p:cNvPr id="4" name="Rectangle 3"/>
          <p:cNvSpPr/>
          <p:nvPr/>
        </p:nvSpPr>
        <p:spPr>
          <a:xfrm>
            <a:off x="850392" y="1847088"/>
            <a:ext cx="548640" cy="38100"/>
          </a:xfrm>
          <a:prstGeom prst="rect">
            <a:avLst/>
          </a:prstGeom>
          <a:solidFill>
            <a:srgbClr val="E84A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0392" y="237744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0" i="0">
                <a:solidFill>
                  <a:srgbClr val="26121D"/>
                </a:solidFill>
                <a:latin typeface="Georgia"/>
              </a:rPr>
              <a:t>Sin vueltas técnicas. Te muestro lo que importa: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" y="3383280"/>
            <a:ext cx="31089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600" b="0" i="0">
                <a:solidFill>
                  <a:srgbClr val="3B1329"/>
                </a:solidFill>
                <a:latin typeface="Georgia"/>
              </a:rPr>
              <a:t>Consultas</a:t>
            </a:r>
          </a:p>
        </p:txBody>
      </p:sp>
      <p:sp>
        <p:nvSpPr>
          <p:cNvPr id="7" name="Rectangle 6"/>
          <p:cNvSpPr/>
          <p:nvPr/>
        </p:nvSpPr>
        <p:spPr>
          <a:xfrm>
            <a:off x="850392" y="4114800"/>
            <a:ext cx="320040" cy="38100"/>
          </a:xfrm>
          <a:prstGeom prst="rect">
            <a:avLst/>
          </a:prstGeom>
          <a:solidFill>
            <a:srgbClr val="E84A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2" y="429768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7A6570"/>
                </a:solidFill>
                <a:latin typeface="Segoe UI"/>
              </a:rPr>
              <a:t>cuántas llegaron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70832" y="3383280"/>
            <a:ext cx="31089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600" b="0" i="0">
                <a:solidFill>
                  <a:srgbClr val="3B1329"/>
                </a:solidFill>
                <a:latin typeface="Georgia"/>
              </a:rPr>
              <a:t>Costo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70832" y="4114800"/>
            <a:ext cx="320040" cy="38100"/>
          </a:xfrm>
          <a:prstGeom prst="rect">
            <a:avLst/>
          </a:prstGeom>
          <a:solidFill>
            <a:srgbClr val="E84A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70832" y="429768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7A6570"/>
                </a:solidFill>
                <a:latin typeface="Segoe UI"/>
              </a:rPr>
              <a:t>cuánto costó cada una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91272" y="3383280"/>
            <a:ext cx="31089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600" b="0" i="0">
                <a:solidFill>
                  <a:srgbClr val="3B1329"/>
                </a:solidFill>
                <a:latin typeface="Georgia"/>
              </a:rPr>
              <a:t>Visitas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91272" y="4114800"/>
            <a:ext cx="320040" cy="38100"/>
          </a:xfrm>
          <a:prstGeom prst="rect">
            <a:avLst/>
          </a:prstGeom>
          <a:solidFill>
            <a:srgbClr val="E84A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91272" y="429768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7A6570"/>
                </a:solidFill>
                <a:latin typeface="Segoe UI"/>
              </a:rPr>
              <a:t>cuántas se concretaron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" y="6355080"/>
            <a:ext cx="10543032" cy="12700"/>
          </a:xfrm>
          <a:prstGeom prst="rect">
            <a:avLst/>
          </a:prstGeom>
          <a:solidFill>
            <a:srgbClr val="F0D9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6419088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 spc="120">
                <a:solidFill>
                  <a:srgbClr val="3B1329"/>
                </a:solidFill>
                <a:latin typeface="Segoe UI"/>
              </a:rPr>
              <a:t>SANTINO MARCONI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0" y="6419088"/>
            <a:ext cx="39593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 spc="120">
                <a:solidFill>
                  <a:srgbClr val="7A6570"/>
                </a:solidFill>
                <a:latin typeface="Segoe UI"/>
              </a:rPr>
              <a:t>PROPUESTA · LUCRECIA MORENO NEGOCIOS INMOBILIARIOS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0" y="6419088"/>
            <a:ext cx="26791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 spc="120">
                <a:solidFill>
                  <a:srgbClr val="7A6570"/>
                </a:solidFill>
                <a:latin typeface="Segoe UI"/>
              </a:rPr>
              <a:t>10 /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50392" y="56692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 spc="220">
                <a:solidFill>
                  <a:srgbClr val="B02467"/>
                </a:solidFill>
                <a:latin typeface="Segoe UI"/>
              </a:rPr>
              <a:t>EL PRIMER PASO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68680"/>
            <a:ext cx="100584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400" b="0" i="0">
                <a:solidFill>
                  <a:srgbClr val="3B1329"/>
                </a:solidFill>
                <a:latin typeface="Georgia"/>
              </a:rPr>
              <a:t>Podemos arrancar esta semana.</a:t>
            </a:r>
          </a:p>
        </p:txBody>
      </p:sp>
      <p:sp>
        <p:nvSpPr>
          <p:cNvPr id="4" name="Rectangle 3"/>
          <p:cNvSpPr/>
          <p:nvPr/>
        </p:nvSpPr>
        <p:spPr>
          <a:xfrm>
            <a:off x="850392" y="1847088"/>
            <a:ext cx="548640" cy="38100"/>
          </a:xfrm>
          <a:prstGeom prst="rect">
            <a:avLst/>
          </a:prstGeom>
          <a:solidFill>
            <a:srgbClr val="E84A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50392" y="2651760"/>
            <a:ext cx="384048" cy="384048"/>
          </a:xfrm>
          <a:prstGeom prst="ellipse">
            <a:avLst/>
          </a:prstGeom>
          <a:solidFill>
            <a:srgbClr val="3B1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Georgia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2670048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0" i="0">
                <a:solidFill>
                  <a:srgbClr val="26121D"/>
                </a:solidFill>
                <a:latin typeface="Segoe UI"/>
              </a:rPr>
              <a:t>Me das los accesos a tus redes y página.</a:t>
            </a:r>
          </a:p>
        </p:txBody>
      </p:sp>
      <p:sp>
        <p:nvSpPr>
          <p:cNvPr id="7" name="Rectangle 6"/>
          <p:cNvSpPr/>
          <p:nvPr/>
        </p:nvSpPr>
        <p:spPr>
          <a:xfrm>
            <a:off x="850392" y="3310128"/>
            <a:ext cx="8686800" cy="12700"/>
          </a:xfrm>
          <a:prstGeom prst="rect">
            <a:avLst/>
          </a:prstGeom>
          <a:solidFill>
            <a:srgbClr val="F0D9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50392" y="3520440"/>
            <a:ext cx="384048" cy="384048"/>
          </a:xfrm>
          <a:prstGeom prst="ellipse">
            <a:avLst/>
          </a:prstGeom>
          <a:solidFill>
            <a:srgbClr val="3B1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Georgia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3538728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0" i="0">
                <a:solidFill>
                  <a:srgbClr val="26121D"/>
                </a:solidFill>
                <a:latin typeface="Segoe UI"/>
              </a:rPr>
              <a:t>Elegimos juntos las primeras propiedades.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50392" y="4178808"/>
            <a:ext cx="8686800" cy="12700"/>
          </a:xfrm>
          <a:prstGeom prst="rect">
            <a:avLst/>
          </a:prstGeom>
          <a:solidFill>
            <a:srgbClr val="F0D9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50392" y="4389120"/>
            <a:ext cx="384048" cy="384048"/>
          </a:xfrm>
          <a:prstGeom prst="ellipse">
            <a:avLst/>
          </a:prstGeom>
          <a:solidFill>
            <a:srgbClr val="E84A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Georgia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4407408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 i="0">
                <a:solidFill>
                  <a:srgbClr val="26121D"/>
                </a:solidFill>
                <a:latin typeface="Segoe UI"/>
              </a:rPr>
              <a:t>En 7 días los avisos están funcionando.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50392" y="5047488"/>
            <a:ext cx="8686800" cy="12700"/>
          </a:xfrm>
          <a:prstGeom prst="rect">
            <a:avLst/>
          </a:prstGeom>
          <a:solidFill>
            <a:srgbClr val="F0D9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2960" y="6355080"/>
            <a:ext cx="10543032" cy="12700"/>
          </a:xfrm>
          <a:prstGeom prst="rect">
            <a:avLst/>
          </a:prstGeom>
          <a:solidFill>
            <a:srgbClr val="F0D9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6419088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 spc="120">
                <a:solidFill>
                  <a:srgbClr val="3B1329"/>
                </a:solidFill>
                <a:latin typeface="Segoe UI"/>
              </a:rPr>
              <a:t>SANTINO MARCONI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0" y="6419088"/>
            <a:ext cx="39593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 spc="120">
                <a:solidFill>
                  <a:srgbClr val="7A6570"/>
                </a:solidFill>
                <a:latin typeface="Segoe UI"/>
              </a:rPr>
              <a:t>PROPUESTA · LUCRECIA MORENO NEGOCIOS INMOBILIARIOS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0" y="6419088"/>
            <a:ext cx="26791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 spc="120">
                <a:solidFill>
                  <a:srgbClr val="7A6570"/>
                </a:solidFill>
                <a:latin typeface="Segoe UI"/>
              </a:rPr>
              <a:t>11 /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B13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B1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943600" y="-3200400"/>
            <a:ext cx="9144000" cy="6858000"/>
          </a:xfrm>
          <a:prstGeom prst="ellipse">
            <a:avLst/>
          </a:prstGeom>
          <a:solidFill>
            <a:srgbClr val="5A1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13248" y="1234440"/>
            <a:ext cx="1371600" cy="1371600"/>
          </a:xfrm>
          <a:prstGeom prst="roundRect">
            <a:avLst/>
          </a:prstGeom>
          <a:solidFill>
            <a:srgbClr val="1A0E15"/>
          </a:solidFill>
          <a:ln w="12700">
            <a:solidFill>
              <a:srgbClr val="E84A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-h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3248" y="1234440"/>
            <a:ext cx="1371600" cy="13716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371600" y="3200400"/>
            <a:ext cx="9445752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4000" b="0" i="0">
                <a:solidFill>
                  <a:srgbClr val="FFFFFF"/>
                </a:solidFill>
                <a:latin typeface="Georgia"/>
              </a:rPr>
              <a:t>Empecemos a construir tu cartera de clientes.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270248" y="5486400"/>
            <a:ext cx="3657600" cy="12700"/>
          </a:xfrm>
          <a:prstGeom prst="rect">
            <a:avLst/>
          </a:prstGeom>
          <a:solidFill>
            <a:srgbClr val="6633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5623560"/>
            <a:ext cx="944575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 spc="200">
                <a:solidFill>
                  <a:srgbClr val="E84A9C"/>
                </a:solidFill>
                <a:latin typeface="Segoe UI"/>
              </a:rPr>
              <a:t>SANTINO MARCONI · CAPTACIÓN DE CLIENTES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